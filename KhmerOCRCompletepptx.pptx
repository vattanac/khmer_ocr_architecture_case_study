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4630400" cy="8229600"/>
  <p:notesSz cx="8229600" cy="14630400"/>
  <p:embeddedFontLst>
    <p:embeddedFont>
      <p:font typeface="Crimson Pro Semi Bold"/>
      <p:regular r:id="rId21"/>
    </p:embeddedFont>
    <p:embeddedFont>
      <p:font typeface="Crimson Pro Semi Bold"/>
      <p:regular r:id="rId22"/>
    </p:embeddedFont>
    <p:embeddedFont>
      <p:font typeface="Crimson Pro Semi Bold"/>
      <p:regular r:id="rId23"/>
    </p:embeddedFont>
    <p:embeddedFont>
      <p:font typeface="Crimson Pro Semi Bold"/>
      <p:regular r:id="rId24"/>
    </p:embeddedFont>
    <p:embeddedFont>
      <p:font typeface="Heebo"/>
      <p:regular r:id="rId25"/>
    </p:embeddedFont>
    <p:embeddedFont>
      <p:font typeface="Heebo"/>
      <p:regular r:id="rId26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Relationship Id="rId21" Type="http://schemas.openxmlformats.org/officeDocument/2006/relationships/font" Target="fonts/font1.fntdata"/><Relationship Id="rId22" Type="http://schemas.openxmlformats.org/officeDocument/2006/relationships/font" Target="fonts/font2.fntdata"/><Relationship Id="rId23" Type="http://schemas.openxmlformats.org/officeDocument/2006/relationships/font" Target="fonts/font3.fntdata"/><Relationship Id="rId24" Type="http://schemas.openxmlformats.org/officeDocument/2006/relationships/font" Target="fonts/font4.fntdata"/><Relationship Id="rId25" Type="http://schemas.openxmlformats.org/officeDocument/2006/relationships/font" Target="fonts/font5.fntdata"/><Relationship Id="rId26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3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4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image" Target="../media/image-3-3.png"/><Relationship Id="rId4" Type="http://schemas.openxmlformats.org/officeDocument/2006/relationships/image" Target="../media/image-3-4.svg"/><Relationship Id="rId5" Type="http://schemas.openxmlformats.org/officeDocument/2006/relationships/image" Target="../media/image-3-5.png"/><Relationship Id="rId6" Type="http://schemas.openxmlformats.org/officeDocument/2006/relationships/image" Target="../media/image-3-6.svg"/><Relationship Id="rId7" Type="http://schemas.openxmlformats.org/officeDocument/2006/relationships/image" Target="../media/image-3-7.png"/><Relationship Id="rId8" Type="http://schemas.openxmlformats.org/officeDocument/2006/relationships/image" Target="../media/image-3-8.svg"/><Relationship Id="rId9" Type="http://schemas.openxmlformats.org/officeDocument/2006/relationships/image" Target="../media/image-3-9.png"/><Relationship Id="rId10" Type="http://schemas.openxmlformats.org/officeDocument/2006/relationships/image" Target="../media/image-3-10.svg"/><Relationship Id="rId11" Type="http://schemas.openxmlformats.org/officeDocument/2006/relationships/image" Target="../media/image-3-11.png"/><Relationship Id="rId12" Type="http://schemas.openxmlformats.org/officeDocument/2006/relationships/slideLayout" Target="../slideLayouts/slideLayout4.xml"/><Relationship Id="rId1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image" Target="../media/image-8-3.png"/><Relationship Id="rId4" Type="http://schemas.openxmlformats.org/officeDocument/2006/relationships/image" Target="../media/image-8-4.svg"/><Relationship Id="rId5" Type="http://schemas.openxmlformats.org/officeDocument/2006/relationships/image" Target="../media/image-8-5.png"/><Relationship Id="rId6" Type="http://schemas.openxmlformats.org/officeDocument/2006/relationships/image" Target="../media/image-8-6.svg"/><Relationship Id="rId7" Type="http://schemas.openxmlformats.org/officeDocument/2006/relationships/image" Target="../media/image-8-7.png"/><Relationship Id="rId8" Type="http://schemas.openxmlformats.org/officeDocument/2006/relationships/image" Target="../media/image-8-8.svg"/><Relationship Id="rId9" Type="http://schemas.openxmlformats.org/officeDocument/2006/relationships/slideLayout" Target="../slideLayouts/slideLayout9.xml"/><Relationship Id="rId10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svg"/><Relationship Id="rId3" Type="http://schemas.openxmlformats.org/officeDocument/2006/relationships/image" Target="../media/image-12-3.png"/><Relationship Id="rId4" Type="http://schemas.openxmlformats.org/officeDocument/2006/relationships/image" Target="../media/image-12-4.svg"/><Relationship Id="rId5" Type="http://schemas.openxmlformats.org/officeDocument/2006/relationships/image" Target="../media/image-12-5.png"/><Relationship Id="rId6" Type="http://schemas.openxmlformats.org/officeDocument/2006/relationships/image" Target="../media/image-12-6.svg"/><Relationship Id="rId7" Type="http://schemas.openxmlformats.org/officeDocument/2006/relationships/image" Target="../media/image-12-7.png"/><Relationship Id="rId8" Type="http://schemas.openxmlformats.org/officeDocument/2006/relationships/image" Target="../media/image-12-8.svg"/><Relationship Id="rId9" Type="http://schemas.openxmlformats.org/officeDocument/2006/relationships/image" Target="../media/image-12-9.png"/><Relationship Id="rId10" Type="http://schemas.openxmlformats.org/officeDocument/2006/relationships/image" Target="../media/image-12-10.svg"/><Relationship Id="rId11" Type="http://schemas.openxmlformats.org/officeDocument/2006/relationships/slideLayout" Target="../slideLayouts/slideLayout13.xml"/><Relationship Id="rId1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svg"/><Relationship Id="rId3" Type="http://schemas.openxmlformats.org/officeDocument/2006/relationships/image" Target="../media/image-13-3.png"/><Relationship Id="rId4" Type="http://schemas.openxmlformats.org/officeDocument/2006/relationships/image" Target="../media/image-13-4.svg"/><Relationship Id="rId5" Type="http://schemas.openxmlformats.org/officeDocument/2006/relationships/image" Target="../media/image-13-5.png"/><Relationship Id="rId6" Type="http://schemas.openxmlformats.org/officeDocument/2006/relationships/image" Target="../media/image-13-6.svg"/><Relationship Id="rId7" Type="http://schemas.openxmlformats.org/officeDocument/2006/relationships/image" Target="../media/image-13-7.png"/><Relationship Id="rId8" Type="http://schemas.openxmlformats.org/officeDocument/2006/relationships/image" Target="../media/image-13-8.svg"/><Relationship Id="rId9" Type="http://schemas.openxmlformats.org/officeDocument/2006/relationships/image" Target="../media/image-13-9.png"/><Relationship Id="rId10" Type="http://schemas.openxmlformats.org/officeDocument/2006/relationships/image" Target="../media/image-13-10.svg"/><Relationship Id="rId11" Type="http://schemas.openxmlformats.org/officeDocument/2006/relationships/slideLayout" Target="../slideLayouts/slideLayout14.xml"/><Relationship Id="rId1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svg"/><Relationship Id="rId3" Type="http://schemas.openxmlformats.org/officeDocument/2006/relationships/image" Target="../media/image-14-3.png"/><Relationship Id="rId4" Type="http://schemas.openxmlformats.org/officeDocument/2006/relationships/image" Target="../media/image-14-4.svg"/><Relationship Id="rId5" Type="http://schemas.openxmlformats.org/officeDocument/2006/relationships/image" Target="../media/image-14-5.png"/><Relationship Id="rId6" Type="http://schemas.openxmlformats.org/officeDocument/2006/relationships/image" Target="../media/image-14-6.svg"/><Relationship Id="rId7" Type="http://schemas.openxmlformats.org/officeDocument/2006/relationships/image" Target="../media/image-14-7.png"/><Relationship Id="rId8" Type="http://schemas.openxmlformats.org/officeDocument/2006/relationships/image" Target="../media/image-14-8.svg"/><Relationship Id="rId9" Type="http://schemas.openxmlformats.org/officeDocument/2006/relationships/image" Target="../media/image-14-9.png"/><Relationship Id="rId10" Type="http://schemas.openxmlformats.org/officeDocument/2006/relationships/image" Target="../media/image-14-10.svg"/><Relationship Id="rId11" Type="http://schemas.openxmlformats.org/officeDocument/2006/relationships/image" Target="../media/image-14-11.png"/><Relationship Id="rId12" Type="http://schemas.openxmlformats.org/officeDocument/2006/relationships/image" Target="../media/image-14-12.svg"/><Relationship Id="rId13" Type="http://schemas.openxmlformats.org/officeDocument/2006/relationships/slideLayout" Target="../slideLayouts/slideLayout15.xml"/><Relationship Id="rId14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67345"/>
            <a:ext cx="5387102" cy="6734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300"/>
              </a:lnSpc>
              <a:buNone/>
            </a:pPr>
            <a:r>
              <a:rPr lang="en-US" sz="4200" b="1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Khmer OCR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793790" y="1422559"/>
            <a:ext cx="5846088" cy="5387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200"/>
              </a:lnSpc>
              <a:buNone/>
            </a:pPr>
            <a:r>
              <a:rPr lang="en-US" sz="335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Architecture &amp; Process Diagrams</a:t>
            </a:r>
            <a:endParaRPr lang="en-US" sz="3350" dirty="0"/>
          </a:p>
        </p:txBody>
      </p:sp>
      <p:sp>
        <p:nvSpPr>
          <p:cNvPr id="4" name="Text 2"/>
          <p:cNvSpPr/>
          <p:nvPr/>
        </p:nvSpPr>
        <p:spPr>
          <a:xfrm>
            <a:off x="793790" y="2268379"/>
            <a:ext cx="13042821" cy="336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Visual step-by-step walkthrough of the entire research paper — from problem definition to final solution and results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793790" y="2834759"/>
            <a:ext cx="4211122" cy="1617940"/>
          </a:xfrm>
          <a:prstGeom prst="roundRect">
            <a:avLst>
              <a:gd name="adj" fmla="val 1998"/>
            </a:avLst>
          </a:prstGeom>
          <a:solidFill>
            <a:srgbClr val="F2EEEE"/>
          </a:solidFill>
          <a:ln/>
        </p:spPr>
      </p:sp>
      <p:sp>
        <p:nvSpPr>
          <p:cNvPr id="6" name="Shape 4"/>
          <p:cNvSpPr/>
          <p:nvPr/>
        </p:nvSpPr>
        <p:spPr>
          <a:xfrm>
            <a:off x="2576155" y="3050143"/>
            <a:ext cx="646390" cy="646390"/>
          </a:xfrm>
          <a:prstGeom prst="roundRect">
            <a:avLst>
              <a:gd name="adj" fmla="val 14144844"/>
            </a:avLst>
          </a:prstGeom>
          <a:solidFill>
            <a:srgbClr val="2150FE"/>
          </a:solidFill>
          <a:ln/>
        </p:spPr>
      </p:sp>
      <p:sp>
        <p:nvSpPr>
          <p:cNvPr id="7" name="Text 5"/>
          <p:cNvSpPr/>
          <p:nvPr/>
        </p:nvSpPr>
        <p:spPr>
          <a:xfrm>
            <a:off x="2753916" y="3191470"/>
            <a:ext cx="290870" cy="3636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550"/>
              </a:lnSpc>
              <a:buNone/>
            </a:pPr>
            <a:r>
              <a:rPr lang="en-US" sz="2250" dirty="0">
                <a:solidFill>
                  <a:srgbClr val="FFFFFF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1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1009174" y="3901202"/>
            <a:ext cx="3780353" cy="336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00"/>
              </a:lnSpc>
              <a:buNone/>
            </a:pPr>
            <a:r>
              <a:rPr lang="en-US" sz="16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CER on ID Cards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5209580" y="2834759"/>
            <a:ext cx="4211122" cy="1617940"/>
          </a:xfrm>
          <a:prstGeom prst="roundRect">
            <a:avLst>
              <a:gd name="adj" fmla="val 1998"/>
            </a:avLst>
          </a:prstGeom>
          <a:solidFill>
            <a:srgbClr val="F2EEEE"/>
          </a:solidFill>
          <a:ln/>
        </p:spPr>
      </p:sp>
      <p:sp>
        <p:nvSpPr>
          <p:cNvPr id="10" name="Shape 8"/>
          <p:cNvSpPr/>
          <p:nvPr/>
        </p:nvSpPr>
        <p:spPr>
          <a:xfrm>
            <a:off x="6991945" y="3050143"/>
            <a:ext cx="646390" cy="646390"/>
          </a:xfrm>
          <a:prstGeom prst="roundRect">
            <a:avLst>
              <a:gd name="adj" fmla="val 14144844"/>
            </a:avLst>
          </a:prstGeom>
          <a:solidFill>
            <a:srgbClr val="2150FE"/>
          </a:solidFill>
          <a:ln/>
        </p:spPr>
      </p:sp>
      <p:sp>
        <p:nvSpPr>
          <p:cNvPr id="11" name="Text 9"/>
          <p:cNvSpPr/>
          <p:nvPr/>
        </p:nvSpPr>
        <p:spPr>
          <a:xfrm>
            <a:off x="7169706" y="3191470"/>
            <a:ext cx="290870" cy="3636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550"/>
              </a:lnSpc>
              <a:buNone/>
            </a:pPr>
            <a:r>
              <a:rPr lang="en-US" sz="2250" dirty="0">
                <a:solidFill>
                  <a:srgbClr val="FFFFFF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2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5424964" y="3901202"/>
            <a:ext cx="3780353" cy="336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00"/>
              </a:lnSpc>
              <a:buNone/>
            </a:pPr>
            <a:r>
              <a:rPr lang="en-US" sz="16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CER on Manuscripts</a:t>
            </a:r>
            <a:endParaRPr lang="en-US" sz="1650" dirty="0"/>
          </a:p>
        </p:txBody>
      </p:sp>
      <p:sp>
        <p:nvSpPr>
          <p:cNvPr id="13" name="Shape 11"/>
          <p:cNvSpPr/>
          <p:nvPr/>
        </p:nvSpPr>
        <p:spPr>
          <a:xfrm>
            <a:off x="9625370" y="2834759"/>
            <a:ext cx="4211122" cy="1617940"/>
          </a:xfrm>
          <a:prstGeom prst="roundRect">
            <a:avLst>
              <a:gd name="adj" fmla="val 1998"/>
            </a:avLst>
          </a:prstGeom>
          <a:solidFill>
            <a:srgbClr val="F2EEEE"/>
          </a:solidFill>
          <a:ln/>
        </p:spPr>
      </p:sp>
      <p:sp>
        <p:nvSpPr>
          <p:cNvPr id="14" name="Shape 12"/>
          <p:cNvSpPr/>
          <p:nvPr/>
        </p:nvSpPr>
        <p:spPr>
          <a:xfrm>
            <a:off x="11407735" y="3050143"/>
            <a:ext cx="646390" cy="646390"/>
          </a:xfrm>
          <a:prstGeom prst="roundRect">
            <a:avLst>
              <a:gd name="adj" fmla="val 14144844"/>
            </a:avLst>
          </a:prstGeom>
          <a:solidFill>
            <a:srgbClr val="2150FE"/>
          </a:solidFill>
          <a:ln/>
        </p:spPr>
      </p:sp>
      <p:sp>
        <p:nvSpPr>
          <p:cNvPr id="15" name="Text 13"/>
          <p:cNvSpPr/>
          <p:nvPr/>
        </p:nvSpPr>
        <p:spPr>
          <a:xfrm>
            <a:off x="11585496" y="3191470"/>
            <a:ext cx="290870" cy="3636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550"/>
              </a:lnSpc>
              <a:buNone/>
            </a:pPr>
            <a:r>
              <a:rPr lang="en-US" sz="2250" dirty="0">
                <a:solidFill>
                  <a:srgbClr val="FFFFFF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3</a:t>
            </a:r>
            <a:endParaRPr lang="en-US" sz="2250" dirty="0"/>
          </a:p>
        </p:txBody>
      </p:sp>
      <p:sp>
        <p:nvSpPr>
          <p:cNvPr id="16" name="Text 14"/>
          <p:cNvSpPr/>
          <p:nvPr/>
        </p:nvSpPr>
        <p:spPr>
          <a:xfrm>
            <a:off x="9840754" y="3901202"/>
            <a:ext cx="3780353" cy="336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00"/>
              </a:lnSpc>
              <a:buNone/>
            </a:pPr>
            <a:r>
              <a:rPr lang="en-US" sz="16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Training Images</a:t>
            </a:r>
            <a:endParaRPr lang="en-US" sz="1650" dirty="0"/>
          </a:p>
        </p:txBody>
      </p:sp>
      <p:sp>
        <p:nvSpPr>
          <p:cNvPr id="17" name="Shape 15"/>
          <p:cNvSpPr/>
          <p:nvPr/>
        </p:nvSpPr>
        <p:spPr>
          <a:xfrm>
            <a:off x="793790" y="4657368"/>
            <a:ext cx="6419017" cy="1617940"/>
          </a:xfrm>
          <a:prstGeom prst="roundRect">
            <a:avLst>
              <a:gd name="adj" fmla="val 1998"/>
            </a:avLst>
          </a:prstGeom>
          <a:solidFill>
            <a:srgbClr val="F2EEEE"/>
          </a:solidFill>
          <a:ln/>
        </p:spPr>
      </p:sp>
      <p:sp>
        <p:nvSpPr>
          <p:cNvPr id="18" name="Shape 16"/>
          <p:cNvSpPr/>
          <p:nvPr/>
        </p:nvSpPr>
        <p:spPr>
          <a:xfrm>
            <a:off x="3680103" y="4872752"/>
            <a:ext cx="646390" cy="646390"/>
          </a:xfrm>
          <a:prstGeom prst="roundRect">
            <a:avLst>
              <a:gd name="adj" fmla="val 14144844"/>
            </a:avLst>
          </a:prstGeom>
          <a:solidFill>
            <a:srgbClr val="2150FE"/>
          </a:solidFill>
          <a:ln/>
        </p:spPr>
      </p:sp>
      <p:sp>
        <p:nvSpPr>
          <p:cNvPr id="19" name="Text 17"/>
          <p:cNvSpPr/>
          <p:nvPr/>
        </p:nvSpPr>
        <p:spPr>
          <a:xfrm>
            <a:off x="3857863" y="5014079"/>
            <a:ext cx="290870" cy="3636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550"/>
              </a:lnSpc>
              <a:buNone/>
            </a:pPr>
            <a:r>
              <a:rPr lang="en-US" sz="2250" dirty="0">
                <a:solidFill>
                  <a:srgbClr val="FFFFFF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4</a:t>
            </a:r>
            <a:endParaRPr lang="en-US" sz="2250" dirty="0"/>
          </a:p>
        </p:txBody>
      </p:sp>
      <p:sp>
        <p:nvSpPr>
          <p:cNvPr id="20" name="Text 18"/>
          <p:cNvSpPr/>
          <p:nvPr/>
        </p:nvSpPr>
        <p:spPr>
          <a:xfrm>
            <a:off x="1009174" y="5723811"/>
            <a:ext cx="5988248" cy="336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00"/>
              </a:lnSpc>
              <a:buNone/>
            </a:pPr>
            <a:r>
              <a:rPr lang="en-US" sz="16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Better than Tesseract</a:t>
            </a:r>
            <a:endParaRPr lang="en-US" sz="1650" dirty="0"/>
          </a:p>
        </p:txBody>
      </p:sp>
      <p:sp>
        <p:nvSpPr>
          <p:cNvPr id="21" name="Shape 19"/>
          <p:cNvSpPr/>
          <p:nvPr/>
        </p:nvSpPr>
        <p:spPr>
          <a:xfrm>
            <a:off x="7417475" y="4657368"/>
            <a:ext cx="6419017" cy="1617940"/>
          </a:xfrm>
          <a:prstGeom prst="roundRect">
            <a:avLst>
              <a:gd name="adj" fmla="val 1998"/>
            </a:avLst>
          </a:prstGeom>
          <a:solidFill>
            <a:srgbClr val="F2EEEE"/>
          </a:solidFill>
          <a:ln/>
        </p:spPr>
      </p:sp>
      <p:sp>
        <p:nvSpPr>
          <p:cNvPr id="22" name="Shape 20"/>
          <p:cNvSpPr/>
          <p:nvPr/>
        </p:nvSpPr>
        <p:spPr>
          <a:xfrm>
            <a:off x="10303788" y="4872752"/>
            <a:ext cx="646390" cy="646390"/>
          </a:xfrm>
          <a:prstGeom prst="roundRect">
            <a:avLst>
              <a:gd name="adj" fmla="val 14144844"/>
            </a:avLst>
          </a:prstGeom>
          <a:solidFill>
            <a:srgbClr val="2150FE"/>
          </a:solidFill>
          <a:ln/>
        </p:spPr>
      </p:sp>
      <p:sp>
        <p:nvSpPr>
          <p:cNvPr id="23" name="Text 21"/>
          <p:cNvSpPr/>
          <p:nvPr/>
        </p:nvSpPr>
        <p:spPr>
          <a:xfrm>
            <a:off x="10481548" y="5014079"/>
            <a:ext cx="290870" cy="3636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550"/>
              </a:lnSpc>
              <a:buNone/>
            </a:pPr>
            <a:r>
              <a:rPr lang="en-US" sz="2250" dirty="0">
                <a:solidFill>
                  <a:srgbClr val="FFFFFF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5</a:t>
            </a:r>
            <a:endParaRPr lang="en-US" sz="2250" dirty="0"/>
          </a:p>
        </p:txBody>
      </p:sp>
      <p:sp>
        <p:nvSpPr>
          <p:cNvPr id="24" name="Text 22"/>
          <p:cNvSpPr/>
          <p:nvPr/>
        </p:nvSpPr>
        <p:spPr>
          <a:xfrm>
            <a:off x="7632859" y="5723811"/>
            <a:ext cx="5988248" cy="336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00"/>
              </a:lnSpc>
              <a:buNone/>
            </a:pPr>
            <a:r>
              <a:rPr lang="en-US" sz="16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Languages Transfer</a:t>
            </a:r>
            <a:endParaRPr lang="en-US" sz="1650" dirty="0"/>
          </a:p>
        </p:txBody>
      </p:sp>
      <p:sp>
        <p:nvSpPr>
          <p:cNvPr id="25" name="Shape 23"/>
          <p:cNvSpPr/>
          <p:nvPr/>
        </p:nvSpPr>
        <p:spPr>
          <a:xfrm>
            <a:off x="793790" y="6505575"/>
            <a:ext cx="2025729" cy="413147"/>
          </a:xfrm>
          <a:prstGeom prst="roundRect">
            <a:avLst>
              <a:gd name="adj" fmla="val 6259"/>
            </a:avLst>
          </a:prstGeom>
          <a:noFill/>
          <a:ln w="7620">
            <a:solidFill>
              <a:srgbClr val="2150F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30592" y="6577727"/>
            <a:ext cx="1752124" cy="2688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2150F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CNN + TRANSFORMER</a:t>
            </a:r>
            <a:endParaRPr lang="en-US" sz="1350" dirty="0"/>
          </a:p>
        </p:txBody>
      </p:sp>
      <p:sp>
        <p:nvSpPr>
          <p:cNvPr id="27" name="Shape 25"/>
          <p:cNvSpPr/>
          <p:nvPr/>
        </p:nvSpPr>
        <p:spPr>
          <a:xfrm>
            <a:off x="2927152" y="6505575"/>
            <a:ext cx="1123831" cy="413147"/>
          </a:xfrm>
          <a:prstGeom prst="roundRect">
            <a:avLst>
              <a:gd name="adj" fmla="val 6259"/>
            </a:avLst>
          </a:prstGeom>
          <a:noFill/>
          <a:ln w="7620">
            <a:solidFill>
              <a:srgbClr val="2150F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063954" y="6577727"/>
            <a:ext cx="850225" cy="2688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2150F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RESNET-45</a:t>
            </a:r>
            <a:endParaRPr lang="en-US" sz="1350" dirty="0"/>
          </a:p>
        </p:txBody>
      </p:sp>
      <p:sp>
        <p:nvSpPr>
          <p:cNvPr id="29" name="Shape 27"/>
          <p:cNvSpPr/>
          <p:nvPr/>
        </p:nvSpPr>
        <p:spPr>
          <a:xfrm>
            <a:off x="4158615" y="6505575"/>
            <a:ext cx="1757124" cy="413147"/>
          </a:xfrm>
          <a:prstGeom prst="roundRect">
            <a:avLst>
              <a:gd name="adj" fmla="val 6259"/>
            </a:avLst>
          </a:prstGeom>
          <a:noFill/>
          <a:ln w="7620">
            <a:solidFill>
              <a:srgbClr val="2150F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295418" y="6577727"/>
            <a:ext cx="1483519" cy="2688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2150F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2D FEATURE MAPS</a:t>
            </a:r>
            <a:endParaRPr lang="en-US" sz="1350" dirty="0"/>
          </a:p>
        </p:txBody>
      </p:sp>
      <p:sp>
        <p:nvSpPr>
          <p:cNvPr id="31" name="Shape 29"/>
          <p:cNvSpPr/>
          <p:nvPr/>
        </p:nvSpPr>
        <p:spPr>
          <a:xfrm>
            <a:off x="6023372" y="6505575"/>
            <a:ext cx="1942267" cy="413147"/>
          </a:xfrm>
          <a:prstGeom prst="roundRect">
            <a:avLst>
              <a:gd name="adj" fmla="val 6259"/>
            </a:avLst>
          </a:prstGeom>
          <a:noFill/>
          <a:ln w="7620">
            <a:solidFill>
              <a:srgbClr val="2150F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160175" y="6577727"/>
            <a:ext cx="1668661" cy="2688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2150F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ADAPTIVE PATCHING</a:t>
            </a:r>
            <a:endParaRPr lang="en-US" sz="1350" dirty="0"/>
          </a:p>
        </p:txBody>
      </p:sp>
      <p:sp>
        <p:nvSpPr>
          <p:cNvPr id="33" name="Shape 31"/>
          <p:cNvSpPr/>
          <p:nvPr/>
        </p:nvSpPr>
        <p:spPr>
          <a:xfrm>
            <a:off x="8073271" y="6505575"/>
            <a:ext cx="1706642" cy="413147"/>
          </a:xfrm>
          <a:prstGeom prst="roundRect">
            <a:avLst>
              <a:gd name="adj" fmla="val 6259"/>
            </a:avLst>
          </a:prstGeom>
          <a:noFill/>
          <a:ln w="7620">
            <a:solidFill>
              <a:srgbClr val="2150F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210074" y="6577727"/>
            <a:ext cx="1433036" cy="2688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2150F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IMAGE CHUNKING</a:t>
            </a:r>
            <a:endParaRPr lang="en-US" sz="1350" dirty="0"/>
          </a:p>
        </p:txBody>
      </p:sp>
      <p:sp>
        <p:nvSpPr>
          <p:cNvPr id="35" name="Shape 33"/>
          <p:cNvSpPr/>
          <p:nvPr/>
        </p:nvSpPr>
        <p:spPr>
          <a:xfrm>
            <a:off x="793790" y="7148989"/>
            <a:ext cx="2631162" cy="413147"/>
          </a:xfrm>
          <a:prstGeom prst="roundRect">
            <a:avLst>
              <a:gd name="adj" fmla="val 6259"/>
            </a:avLst>
          </a:prstGeom>
          <a:noFill/>
          <a:ln w="7620">
            <a:solidFill>
              <a:srgbClr val="2150F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30592" y="7221141"/>
            <a:ext cx="2357557" cy="2688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2150F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CROSS-LANGUAGE TRANSFER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26770"/>
            <a:ext cx="4657606" cy="4819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750"/>
              </a:lnSpc>
              <a:buNone/>
            </a:pPr>
            <a:r>
              <a:rPr lang="en-US" sz="3000" b="1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Diagram 1 — The Big Picture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93790" y="1636395"/>
            <a:ext cx="13042821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End-to-end journey from problem to state-of-the-art results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793790" y="2105978"/>
            <a:ext cx="192762" cy="240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4C4C4D"/>
                </a:solidFill>
                <a:latin typeface="Crimson Pro Light" pitchFamily="34" charset="0"/>
                <a:ea typeface="Crimson Pro Light" pitchFamily="34" charset="-122"/>
                <a:cs typeface="Crimson Pro Light" pitchFamily="34" charset="-120"/>
              </a:rPr>
              <a:t>01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93790" y="2410658"/>
            <a:ext cx="6439495" cy="22860"/>
          </a:xfrm>
          <a:prstGeom prst="rect">
            <a:avLst/>
          </a:prstGeom>
          <a:solidFill>
            <a:srgbClr val="2150FE"/>
          </a:solidFill>
          <a:ln/>
        </p:spPr>
      </p:sp>
      <p:sp>
        <p:nvSpPr>
          <p:cNvPr id="6" name="Text 4"/>
          <p:cNvSpPr/>
          <p:nvPr/>
        </p:nvSpPr>
        <p:spPr>
          <a:xfrm>
            <a:off x="793790" y="2552700"/>
            <a:ext cx="2409944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8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The Problem</a:t>
            </a:r>
            <a:endParaRPr lang="en-US" sz="1850" dirty="0"/>
          </a:p>
        </p:txBody>
      </p:sp>
      <p:sp>
        <p:nvSpPr>
          <p:cNvPr id="7" name="Text 5"/>
          <p:cNvSpPr/>
          <p:nvPr/>
        </p:nvSpPr>
        <p:spPr>
          <a:xfrm>
            <a:off x="793790" y="2952155"/>
            <a:ext cx="6439495" cy="5705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Khmer script has stacked characters, tiny diacritics, no word spaces, and 5 vertical rows. Tesseract fails at 27–90% error rates.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397115" y="2105978"/>
            <a:ext cx="192762" cy="240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4C4C4D"/>
                </a:solidFill>
                <a:latin typeface="Crimson Pro Light" pitchFamily="34" charset="0"/>
                <a:ea typeface="Crimson Pro Light" pitchFamily="34" charset="-122"/>
                <a:cs typeface="Crimson Pro Light" pitchFamily="34" charset="-120"/>
              </a:rPr>
              <a:t>02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397115" y="2410658"/>
            <a:ext cx="6439495" cy="22860"/>
          </a:xfrm>
          <a:prstGeom prst="rect">
            <a:avLst/>
          </a:prstGeom>
          <a:solidFill>
            <a:srgbClr val="2150FE"/>
          </a:solidFill>
          <a:ln/>
        </p:spPr>
      </p:sp>
      <p:sp>
        <p:nvSpPr>
          <p:cNvPr id="10" name="Text 8"/>
          <p:cNvSpPr/>
          <p:nvPr/>
        </p:nvSpPr>
        <p:spPr>
          <a:xfrm>
            <a:off x="7397115" y="2552700"/>
            <a:ext cx="3331964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8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Generate Synthetic Training Data</a:t>
            </a:r>
            <a:endParaRPr lang="en-US" sz="1850" dirty="0"/>
          </a:p>
        </p:txBody>
      </p:sp>
      <p:sp>
        <p:nvSpPr>
          <p:cNvPr id="11" name="Text 9"/>
          <p:cNvSpPr/>
          <p:nvPr/>
        </p:nvSpPr>
        <p:spPr>
          <a:xfrm>
            <a:off x="7397115" y="2952155"/>
            <a:ext cx="6439495" cy="5705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1.5M document images + 1.3M scene text images using 48 Khmer fonts, augmented with blur, noise, rotation, and perspective warp.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93790" y="3831074"/>
            <a:ext cx="192762" cy="240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4C4C4D"/>
                </a:solidFill>
                <a:latin typeface="Crimson Pro Light" pitchFamily="34" charset="0"/>
                <a:ea typeface="Crimson Pro Light" pitchFamily="34" charset="-122"/>
                <a:cs typeface="Crimson Pro Light" pitchFamily="34" charset="-120"/>
              </a:rPr>
              <a:t>03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793790" y="4135755"/>
            <a:ext cx="6439495" cy="22860"/>
          </a:xfrm>
          <a:prstGeom prst="rect">
            <a:avLst/>
          </a:prstGeom>
          <a:solidFill>
            <a:srgbClr val="2150FE"/>
          </a:solidFill>
          <a:ln/>
        </p:spPr>
      </p:sp>
      <p:sp>
        <p:nvSpPr>
          <p:cNvPr id="14" name="Text 12"/>
          <p:cNvSpPr/>
          <p:nvPr/>
        </p:nvSpPr>
        <p:spPr>
          <a:xfrm>
            <a:off x="793790" y="4277797"/>
            <a:ext cx="3038594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8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Design the Model Architecture</a:t>
            </a:r>
            <a:endParaRPr lang="en-US" sz="1850" dirty="0"/>
          </a:p>
        </p:txBody>
      </p:sp>
      <p:sp>
        <p:nvSpPr>
          <p:cNvPr id="15" name="Text 13"/>
          <p:cNvSpPr/>
          <p:nvPr/>
        </p:nvSpPr>
        <p:spPr>
          <a:xfrm>
            <a:off x="793790" y="4677251"/>
            <a:ext cx="6439495" cy="8558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CNN (ResNet-45) extracts 2D features → Adaptive Patching preserves vertical info → Transformer Encoder → Transformer Decoder generates text.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7397115" y="3831074"/>
            <a:ext cx="192762" cy="240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4C4C4D"/>
                </a:solidFill>
                <a:latin typeface="Crimson Pro Light" pitchFamily="34" charset="0"/>
                <a:ea typeface="Crimson Pro Light" pitchFamily="34" charset="-122"/>
                <a:cs typeface="Crimson Pro Light" pitchFamily="34" charset="-120"/>
              </a:rPr>
              <a:t>04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7397115" y="4135755"/>
            <a:ext cx="6439495" cy="22860"/>
          </a:xfrm>
          <a:prstGeom prst="rect">
            <a:avLst/>
          </a:prstGeom>
          <a:solidFill>
            <a:srgbClr val="2150FE"/>
          </a:solidFill>
          <a:ln/>
        </p:spPr>
      </p:sp>
      <p:sp>
        <p:nvSpPr>
          <p:cNvPr id="18" name="Text 16"/>
          <p:cNvSpPr/>
          <p:nvPr/>
        </p:nvSpPr>
        <p:spPr>
          <a:xfrm>
            <a:off x="7397115" y="4277797"/>
            <a:ext cx="2658547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8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Innovate: Image Chunking</a:t>
            </a:r>
            <a:endParaRPr lang="en-US" sz="1850" dirty="0"/>
          </a:p>
        </p:txBody>
      </p:sp>
      <p:sp>
        <p:nvSpPr>
          <p:cNvPr id="19" name="Text 17"/>
          <p:cNvSpPr/>
          <p:nvPr/>
        </p:nvSpPr>
        <p:spPr>
          <a:xfrm>
            <a:off x="7397115" y="4677251"/>
            <a:ext cx="6439495" cy="5705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Split long text images into overlapping chunks, process independently, merge predictions using confidence scores. 5× speed improvement.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793790" y="5841444"/>
            <a:ext cx="192762" cy="240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4C4C4D"/>
                </a:solidFill>
                <a:latin typeface="Crimson Pro Light" pitchFamily="34" charset="0"/>
                <a:ea typeface="Crimson Pro Light" pitchFamily="34" charset="-122"/>
                <a:cs typeface="Crimson Pro Light" pitchFamily="34" charset="-120"/>
              </a:rPr>
              <a:t>05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793790" y="6146125"/>
            <a:ext cx="6439495" cy="22860"/>
          </a:xfrm>
          <a:prstGeom prst="rect">
            <a:avLst/>
          </a:prstGeom>
          <a:solidFill>
            <a:srgbClr val="2150FE"/>
          </a:solidFill>
          <a:ln/>
        </p:spPr>
      </p:sp>
      <p:sp>
        <p:nvSpPr>
          <p:cNvPr id="22" name="Text 20"/>
          <p:cNvSpPr/>
          <p:nvPr/>
        </p:nvSpPr>
        <p:spPr>
          <a:xfrm>
            <a:off x="793790" y="6288167"/>
            <a:ext cx="2432447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8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Test on Real-World Data</a:t>
            </a:r>
            <a:endParaRPr lang="en-US" sz="1850" dirty="0"/>
          </a:p>
        </p:txBody>
      </p:sp>
      <p:sp>
        <p:nvSpPr>
          <p:cNvPr id="23" name="Text 21"/>
          <p:cNvSpPr/>
          <p:nvPr/>
        </p:nvSpPr>
        <p:spPr>
          <a:xfrm>
            <a:off x="793790" y="6687622"/>
            <a:ext cx="6439495" cy="5705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Evaluate on Khmer ID cards, KHOB digital books, Sleuk Rith ancient manuscripts, and 5 other languages.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7397115" y="5841444"/>
            <a:ext cx="192762" cy="240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4C4C4D"/>
                </a:solidFill>
                <a:latin typeface="Crimson Pro Light" pitchFamily="34" charset="0"/>
                <a:ea typeface="Crimson Pro Light" pitchFamily="34" charset="-122"/>
                <a:cs typeface="Crimson Pro Light" pitchFamily="34" charset="-120"/>
              </a:rPr>
              <a:t>06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7397115" y="6146125"/>
            <a:ext cx="6439495" cy="22860"/>
          </a:xfrm>
          <a:prstGeom prst="rect">
            <a:avLst/>
          </a:prstGeom>
          <a:solidFill>
            <a:srgbClr val="2150FE"/>
          </a:solidFill>
          <a:ln/>
        </p:spPr>
      </p:sp>
      <p:sp>
        <p:nvSpPr>
          <p:cNvPr id="26" name="Text 24"/>
          <p:cNvSpPr/>
          <p:nvPr/>
        </p:nvSpPr>
        <p:spPr>
          <a:xfrm>
            <a:off x="7397115" y="6288167"/>
            <a:ext cx="2462808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8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Results: State-of-the-Art</a:t>
            </a:r>
            <a:endParaRPr lang="en-US" sz="1850" dirty="0"/>
          </a:p>
        </p:txBody>
      </p:sp>
      <p:sp>
        <p:nvSpPr>
          <p:cNvPr id="27" name="Text 25"/>
          <p:cNvSpPr/>
          <p:nvPr/>
        </p:nvSpPr>
        <p:spPr>
          <a:xfrm>
            <a:off x="7397115" y="6687622"/>
            <a:ext cx="6439495" cy="5705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3.00% CER on ID cards (9× better than Tesseract), 2.46% on ancient manuscripts (60% better than previous best).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90205"/>
            <a:ext cx="5417701" cy="4819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750"/>
              </a:lnSpc>
              <a:buNone/>
            </a:pPr>
            <a:r>
              <a:rPr lang="en-US" sz="3000" b="1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Diagram 2 — Why Khmer is Hard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93790" y="1499830"/>
            <a:ext cx="13042821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 single syllable can occupy up to 5 vertical rows simultaneously — this is what makes legacy OCR fail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793790" y="1969413"/>
            <a:ext cx="4238387" cy="2097762"/>
          </a:xfrm>
          <a:prstGeom prst="roundRect">
            <a:avLst>
              <a:gd name="adj" fmla="val 1379"/>
            </a:avLst>
          </a:prstGeom>
          <a:solidFill>
            <a:srgbClr val="F2EEEE"/>
          </a:solidFill>
          <a:ln/>
        </p:spPr>
      </p:sp>
      <p:sp>
        <p:nvSpPr>
          <p:cNvPr id="5" name="Shape 3"/>
          <p:cNvSpPr/>
          <p:nvPr/>
        </p:nvSpPr>
        <p:spPr>
          <a:xfrm>
            <a:off x="986552" y="2162175"/>
            <a:ext cx="578406" cy="578406"/>
          </a:xfrm>
          <a:prstGeom prst="roundRect">
            <a:avLst>
              <a:gd name="adj" fmla="val 15807384"/>
            </a:avLst>
          </a:prstGeom>
          <a:solidFill>
            <a:srgbClr val="2150FE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45619" y="2321243"/>
            <a:ext cx="260271" cy="26027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86552" y="2904411"/>
            <a:ext cx="2409944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8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Row 1 — Superscript</a:t>
            </a:r>
            <a:endParaRPr lang="en-US" sz="1850" dirty="0"/>
          </a:p>
        </p:txBody>
      </p:sp>
      <p:sp>
        <p:nvSpPr>
          <p:cNvPr id="8" name="Text 5"/>
          <p:cNvSpPr/>
          <p:nvPr/>
        </p:nvSpPr>
        <p:spPr>
          <a:xfrm>
            <a:off x="986552" y="3303865"/>
            <a:ext cx="3852863" cy="5705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◌់ · Tiny diacritics (~15% height). Often invisible at low resolution.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196007" y="1969413"/>
            <a:ext cx="4238387" cy="2097762"/>
          </a:xfrm>
          <a:prstGeom prst="roundRect">
            <a:avLst>
              <a:gd name="adj" fmla="val 1379"/>
            </a:avLst>
          </a:prstGeom>
          <a:solidFill>
            <a:srgbClr val="F2EEEE"/>
          </a:solidFill>
          <a:ln/>
        </p:spPr>
      </p:sp>
      <p:sp>
        <p:nvSpPr>
          <p:cNvPr id="10" name="Shape 7"/>
          <p:cNvSpPr/>
          <p:nvPr/>
        </p:nvSpPr>
        <p:spPr>
          <a:xfrm>
            <a:off x="5388769" y="2162175"/>
            <a:ext cx="578406" cy="578406"/>
          </a:xfrm>
          <a:prstGeom prst="roundRect">
            <a:avLst>
              <a:gd name="adj" fmla="val 15807384"/>
            </a:avLst>
          </a:prstGeom>
          <a:solidFill>
            <a:srgbClr val="2150FE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547836" y="2321243"/>
            <a:ext cx="260271" cy="260271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388769" y="2904411"/>
            <a:ext cx="2749034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8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Row 2 — Above-base Vowel</a:t>
            </a:r>
            <a:endParaRPr lang="en-US" sz="1850" dirty="0"/>
          </a:p>
        </p:txBody>
      </p:sp>
      <p:sp>
        <p:nvSpPr>
          <p:cNvPr id="13" name="Text 9"/>
          <p:cNvSpPr/>
          <p:nvPr/>
        </p:nvSpPr>
        <p:spPr>
          <a:xfrm>
            <a:off x="5388769" y="3303865"/>
            <a:ext cx="3852863" cy="5705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◌ី ◌ឹ ◌ើ · Above vowels (~25% height). Sit above the base consonant.</a:t>
            </a:r>
            <a:endParaRPr lang="en-US" sz="1500" dirty="0"/>
          </a:p>
        </p:txBody>
      </p:sp>
      <p:sp>
        <p:nvSpPr>
          <p:cNvPr id="14" name="Shape 10"/>
          <p:cNvSpPr/>
          <p:nvPr/>
        </p:nvSpPr>
        <p:spPr>
          <a:xfrm>
            <a:off x="9598223" y="1969413"/>
            <a:ext cx="4238387" cy="2097762"/>
          </a:xfrm>
          <a:prstGeom prst="roundRect">
            <a:avLst>
              <a:gd name="adj" fmla="val 1379"/>
            </a:avLst>
          </a:prstGeom>
          <a:solidFill>
            <a:srgbClr val="F2EEEE"/>
          </a:solidFill>
          <a:ln/>
        </p:spPr>
      </p:sp>
      <p:sp>
        <p:nvSpPr>
          <p:cNvPr id="15" name="Shape 11"/>
          <p:cNvSpPr/>
          <p:nvPr/>
        </p:nvSpPr>
        <p:spPr>
          <a:xfrm>
            <a:off x="9790986" y="2162175"/>
            <a:ext cx="578406" cy="578406"/>
          </a:xfrm>
          <a:prstGeom prst="roundRect">
            <a:avLst>
              <a:gd name="adj" fmla="val 15807384"/>
            </a:avLst>
          </a:prstGeom>
          <a:solidFill>
            <a:srgbClr val="2150FE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950053" y="2321243"/>
            <a:ext cx="260271" cy="260271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790986" y="2904411"/>
            <a:ext cx="2529364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8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Row 3 — Base Consonant</a:t>
            </a:r>
            <a:endParaRPr lang="en-US" sz="1850" dirty="0"/>
          </a:p>
        </p:txBody>
      </p:sp>
      <p:sp>
        <p:nvSpPr>
          <p:cNvPr id="18" name="Text 13"/>
          <p:cNvSpPr/>
          <p:nvPr/>
        </p:nvSpPr>
        <p:spPr>
          <a:xfrm>
            <a:off x="9790986" y="3303865"/>
            <a:ext cx="3852863" cy="5705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ក គ ស ន · Main character (100% size). The anchor of every syllable.</a:t>
            </a:r>
            <a:endParaRPr lang="en-US" sz="1500" dirty="0"/>
          </a:p>
        </p:txBody>
      </p:sp>
      <p:sp>
        <p:nvSpPr>
          <p:cNvPr id="19" name="Shape 14"/>
          <p:cNvSpPr/>
          <p:nvPr/>
        </p:nvSpPr>
        <p:spPr>
          <a:xfrm>
            <a:off x="793790" y="4231005"/>
            <a:ext cx="6439495" cy="2097762"/>
          </a:xfrm>
          <a:prstGeom prst="roundRect">
            <a:avLst>
              <a:gd name="adj" fmla="val 1379"/>
            </a:avLst>
          </a:prstGeom>
          <a:solidFill>
            <a:srgbClr val="F2EEEE"/>
          </a:solidFill>
          <a:ln/>
        </p:spPr>
      </p:sp>
      <p:sp>
        <p:nvSpPr>
          <p:cNvPr id="20" name="Shape 15"/>
          <p:cNvSpPr/>
          <p:nvPr/>
        </p:nvSpPr>
        <p:spPr>
          <a:xfrm>
            <a:off x="986552" y="4423767"/>
            <a:ext cx="578406" cy="578406"/>
          </a:xfrm>
          <a:prstGeom prst="roundRect">
            <a:avLst>
              <a:gd name="adj" fmla="val 15807384"/>
            </a:avLst>
          </a:prstGeom>
          <a:solidFill>
            <a:srgbClr val="2150FE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45619" y="4582835"/>
            <a:ext cx="260271" cy="260271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86552" y="5166003"/>
            <a:ext cx="3890129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8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Row 4 — Subscript Consonant (Coeng)</a:t>
            </a:r>
            <a:endParaRPr lang="en-US" sz="1850" dirty="0"/>
          </a:p>
        </p:txBody>
      </p:sp>
      <p:sp>
        <p:nvSpPr>
          <p:cNvPr id="23" name="Text 17"/>
          <p:cNvSpPr/>
          <p:nvPr/>
        </p:nvSpPr>
        <p:spPr>
          <a:xfrm>
            <a:off x="986552" y="5565458"/>
            <a:ext cx="6053971" cy="5705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្ត ្រ ្ន · Below consonants (~60% height). Can stack multiple levels deep.</a:t>
            </a:r>
            <a:endParaRPr lang="en-US" sz="1500" dirty="0"/>
          </a:p>
        </p:txBody>
      </p:sp>
      <p:sp>
        <p:nvSpPr>
          <p:cNvPr id="24" name="Shape 18"/>
          <p:cNvSpPr/>
          <p:nvPr/>
        </p:nvSpPr>
        <p:spPr>
          <a:xfrm>
            <a:off x="7397115" y="4231005"/>
            <a:ext cx="6439495" cy="2097762"/>
          </a:xfrm>
          <a:prstGeom prst="roundRect">
            <a:avLst>
              <a:gd name="adj" fmla="val 1379"/>
            </a:avLst>
          </a:prstGeom>
          <a:solidFill>
            <a:srgbClr val="F2EEEE"/>
          </a:solidFill>
          <a:ln/>
        </p:spPr>
      </p:sp>
      <p:sp>
        <p:nvSpPr>
          <p:cNvPr id="25" name="Shape 19"/>
          <p:cNvSpPr/>
          <p:nvPr/>
        </p:nvSpPr>
        <p:spPr>
          <a:xfrm>
            <a:off x="7589877" y="4423767"/>
            <a:ext cx="578406" cy="578406"/>
          </a:xfrm>
          <a:prstGeom prst="roundRect">
            <a:avLst>
              <a:gd name="adj" fmla="val 15807384"/>
            </a:avLst>
          </a:prstGeom>
          <a:solidFill>
            <a:srgbClr val="2150FE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748945" y="4582835"/>
            <a:ext cx="260271" cy="260271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7589877" y="5166003"/>
            <a:ext cx="2753797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8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Row 5 — Below-base Vowel</a:t>
            </a:r>
            <a:endParaRPr lang="en-US" sz="1850" dirty="0"/>
          </a:p>
        </p:txBody>
      </p:sp>
      <p:sp>
        <p:nvSpPr>
          <p:cNvPr id="28" name="Text 21"/>
          <p:cNvSpPr/>
          <p:nvPr/>
        </p:nvSpPr>
        <p:spPr>
          <a:xfrm>
            <a:off x="7589877" y="5565458"/>
            <a:ext cx="6053971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◌ុ ◌ូ · Below vowels (~25% height). Sit beneath the base consonant.</a:t>
            </a:r>
            <a:endParaRPr lang="en-US" sz="1500" dirty="0"/>
          </a:p>
        </p:txBody>
      </p:sp>
      <p:sp>
        <p:nvSpPr>
          <p:cNvPr id="29" name="Shape 22"/>
          <p:cNvSpPr/>
          <p:nvPr/>
        </p:nvSpPr>
        <p:spPr>
          <a:xfrm>
            <a:off x="793790" y="6513076"/>
            <a:ext cx="13042821" cy="1026200"/>
          </a:xfrm>
          <a:prstGeom prst="roundRect">
            <a:avLst>
              <a:gd name="adj" fmla="val 2818"/>
            </a:avLst>
          </a:prstGeom>
          <a:solidFill>
            <a:srgbClr val="B3C3FF"/>
          </a:solidFill>
          <a:ln/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86552" y="6783348"/>
            <a:ext cx="240983" cy="192762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1420297" y="6725007"/>
            <a:ext cx="12223552" cy="5705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Example: The word ស្ត្រី (woman) uses 4 of 5 vertical rows simultaneously. A computer must identify ALL components and their relationships correctly to read it.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0932" y="637699"/>
            <a:ext cx="6515576" cy="5649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400"/>
              </a:lnSpc>
              <a:buNone/>
            </a:pPr>
            <a:r>
              <a:rPr lang="en-US" sz="3550" b="1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Diagram 3 — The Core Innovation</a:t>
            </a:r>
            <a:endParaRPr lang="en-US" sz="3550" dirty="0"/>
          </a:p>
        </p:txBody>
      </p:sp>
      <p:sp>
        <p:nvSpPr>
          <p:cNvPr id="3" name="Text 1"/>
          <p:cNvSpPr/>
          <p:nvPr/>
        </p:nvSpPr>
        <p:spPr>
          <a:xfrm>
            <a:off x="790932" y="1652945"/>
            <a:ext cx="13048536" cy="3608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1D vs. 2D Feature Maps — why preserving vertical information is the key breakthrough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90932" y="2492216"/>
            <a:ext cx="4583311" cy="3531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❌</a:t>
            </a:r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 Old Method — 1D Feature Sequence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90932" y="3070503"/>
            <a:ext cx="6248638" cy="2886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i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CRNN / TrOCR approach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60452" y="3581876"/>
            <a:ext cx="60960" cy="421838"/>
          </a:xfrm>
          <a:prstGeom prst="rect">
            <a:avLst/>
          </a:prstGeom>
          <a:solidFill>
            <a:srgbClr val="2150FE"/>
          </a:solidFill>
          <a:ln/>
        </p:spPr>
      </p:sp>
      <p:sp>
        <p:nvSpPr>
          <p:cNvPr id="7" name="Text 5"/>
          <p:cNvSpPr/>
          <p:nvPr/>
        </p:nvSpPr>
        <p:spPr>
          <a:xfrm>
            <a:off x="1077873" y="3612356"/>
            <a:ext cx="5961698" cy="3608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Input: H=8 rows × W=64 cols × C=512 channels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760452" y="4393049"/>
            <a:ext cx="60960" cy="421838"/>
          </a:xfrm>
          <a:prstGeom prst="rect">
            <a:avLst/>
          </a:prstGeom>
          <a:solidFill>
            <a:srgbClr val="2150FE"/>
          </a:solidFill>
          <a:ln/>
        </p:spPr>
      </p:sp>
      <p:sp>
        <p:nvSpPr>
          <p:cNvPr id="9" name="Text 7"/>
          <p:cNvSpPr/>
          <p:nvPr/>
        </p:nvSpPr>
        <p:spPr>
          <a:xfrm>
            <a:off x="1077873" y="4423529"/>
            <a:ext cx="5961698" cy="3608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Operation: COLLAPSE height (average/pool)</a:t>
            </a:r>
            <a:endParaRPr lang="en-US" sz="1750" dirty="0"/>
          </a:p>
        </p:txBody>
      </p:sp>
      <p:sp>
        <p:nvSpPr>
          <p:cNvPr id="10" name="Shape 8"/>
          <p:cNvSpPr/>
          <p:nvPr/>
        </p:nvSpPr>
        <p:spPr>
          <a:xfrm>
            <a:off x="760452" y="5204222"/>
            <a:ext cx="60960" cy="421838"/>
          </a:xfrm>
          <a:prstGeom prst="rect">
            <a:avLst/>
          </a:prstGeom>
          <a:solidFill>
            <a:srgbClr val="2150FE"/>
          </a:solidFill>
          <a:ln/>
        </p:spPr>
      </p:sp>
      <p:sp>
        <p:nvSpPr>
          <p:cNvPr id="11" name="Text 9"/>
          <p:cNvSpPr/>
          <p:nvPr/>
        </p:nvSpPr>
        <p:spPr>
          <a:xfrm>
            <a:off x="1077873" y="5234702"/>
            <a:ext cx="5961698" cy="3608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Output: 1 row × W=64 × C=512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760452" y="6015395"/>
            <a:ext cx="60960" cy="790337"/>
          </a:xfrm>
          <a:prstGeom prst="rect">
            <a:avLst/>
          </a:prstGeom>
          <a:solidFill>
            <a:srgbClr val="2150FE"/>
          </a:solidFill>
          <a:ln/>
        </p:spPr>
      </p:sp>
      <p:sp>
        <p:nvSpPr>
          <p:cNvPr id="13" name="Text 11"/>
          <p:cNvSpPr/>
          <p:nvPr/>
        </p:nvSpPr>
        <p:spPr>
          <a:xfrm>
            <a:off x="1077873" y="6045875"/>
            <a:ext cx="5961698" cy="7293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⚠</a:t>
            </a:r>
            <a:pPr algn="l"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Row 1 diacritics = Row 4 subscripts — ALL vertical info LOST</a:t>
            </a:r>
            <a:endParaRPr lang="en-US" sz="1750" dirty="0"/>
          </a:p>
        </p:txBody>
      </p:sp>
      <p:sp>
        <p:nvSpPr>
          <p:cNvPr id="14" name="Text 12"/>
          <p:cNvSpPr/>
          <p:nvPr/>
        </p:nvSpPr>
        <p:spPr>
          <a:xfrm>
            <a:off x="790932" y="7028498"/>
            <a:ext cx="6248638" cy="3608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75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CER: ~27% (lost vertical structure)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7598450" y="2492216"/>
            <a:ext cx="5714643" cy="3531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✅</a:t>
            </a:r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 New Method — 2D Feature Map with Patches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7598450" y="3070503"/>
            <a:ext cx="6248638" cy="2886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i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This paper's approach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7567970" y="3581876"/>
            <a:ext cx="60960" cy="421838"/>
          </a:xfrm>
          <a:prstGeom prst="rect">
            <a:avLst/>
          </a:prstGeom>
          <a:solidFill>
            <a:srgbClr val="2150FE"/>
          </a:solidFill>
          <a:ln/>
        </p:spPr>
      </p:sp>
      <p:sp>
        <p:nvSpPr>
          <p:cNvPr id="18" name="Text 16"/>
          <p:cNvSpPr/>
          <p:nvPr/>
        </p:nvSpPr>
        <p:spPr>
          <a:xfrm>
            <a:off x="7885390" y="3612356"/>
            <a:ext cx="5961698" cy="3608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Input: H=8 rows × W=64 cols × C=512 channels</a:t>
            </a:r>
            <a:endParaRPr lang="en-US" sz="1750" dirty="0"/>
          </a:p>
        </p:txBody>
      </p:sp>
      <p:sp>
        <p:nvSpPr>
          <p:cNvPr id="19" name="Shape 17"/>
          <p:cNvSpPr/>
          <p:nvPr/>
        </p:nvSpPr>
        <p:spPr>
          <a:xfrm>
            <a:off x="7567970" y="4393049"/>
            <a:ext cx="60960" cy="421838"/>
          </a:xfrm>
          <a:prstGeom prst="rect">
            <a:avLst/>
          </a:prstGeom>
          <a:solidFill>
            <a:srgbClr val="2150FE"/>
          </a:solidFill>
          <a:ln/>
        </p:spPr>
      </p:sp>
      <p:sp>
        <p:nvSpPr>
          <p:cNvPr id="20" name="Text 18"/>
          <p:cNvSpPr/>
          <p:nvPr/>
        </p:nvSpPr>
        <p:spPr>
          <a:xfrm>
            <a:off x="7885390" y="4423529"/>
            <a:ext cx="5961698" cy="3608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Operation: PATCH (keep all rows per column)</a:t>
            </a:r>
            <a:endParaRPr lang="en-US" sz="1750" dirty="0"/>
          </a:p>
        </p:txBody>
      </p:sp>
      <p:sp>
        <p:nvSpPr>
          <p:cNvPr id="21" name="Shape 19"/>
          <p:cNvSpPr/>
          <p:nvPr/>
        </p:nvSpPr>
        <p:spPr>
          <a:xfrm>
            <a:off x="7567970" y="5204222"/>
            <a:ext cx="60960" cy="421838"/>
          </a:xfrm>
          <a:prstGeom prst="rect">
            <a:avLst/>
          </a:prstGeom>
          <a:solidFill>
            <a:srgbClr val="2150FE"/>
          </a:solidFill>
          <a:ln/>
        </p:spPr>
      </p:sp>
      <p:sp>
        <p:nvSpPr>
          <p:cNvPr id="22" name="Text 20"/>
          <p:cNvSpPr/>
          <p:nvPr/>
        </p:nvSpPr>
        <p:spPr>
          <a:xfrm>
            <a:off x="7885390" y="5234702"/>
            <a:ext cx="5961698" cy="3608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Output: 64 patches, each [8 × 512] = 4096-dim</a:t>
            </a:r>
            <a:endParaRPr lang="en-US" sz="1750" dirty="0"/>
          </a:p>
        </p:txBody>
      </p:sp>
      <p:sp>
        <p:nvSpPr>
          <p:cNvPr id="23" name="Shape 21"/>
          <p:cNvSpPr/>
          <p:nvPr/>
        </p:nvSpPr>
        <p:spPr>
          <a:xfrm>
            <a:off x="7567970" y="6015395"/>
            <a:ext cx="60960" cy="782717"/>
          </a:xfrm>
          <a:prstGeom prst="rect">
            <a:avLst/>
          </a:prstGeom>
          <a:solidFill>
            <a:srgbClr val="2150FE"/>
          </a:solidFill>
          <a:ln/>
        </p:spPr>
      </p:sp>
      <p:sp>
        <p:nvSpPr>
          <p:cNvPr id="24" name="Text 22"/>
          <p:cNvSpPr/>
          <p:nvPr/>
        </p:nvSpPr>
        <p:spPr>
          <a:xfrm>
            <a:off x="7885390" y="6045875"/>
            <a:ext cx="5961698" cy="7217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✓ Row 1 info preserved · ✓ Row 4 info preserved · ✓ All intact</a:t>
            </a:r>
            <a:endParaRPr lang="en-US" sz="1750" dirty="0"/>
          </a:p>
        </p:txBody>
      </p:sp>
      <p:sp>
        <p:nvSpPr>
          <p:cNvPr id="25" name="Text 23"/>
          <p:cNvSpPr/>
          <p:nvPr/>
        </p:nvSpPr>
        <p:spPr>
          <a:xfrm>
            <a:off x="7598450" y="7020878"/>
            <a:ext cx="6248638" cy="3608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75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CER: ~3% (vertical structure preserved)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52964"/>
            <a:ext cx="7935754" cy="5103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000"/>
              </a:lnSpc>
              <a:buNone/>
            </a:pPr>
            <a:r>
              <a:rPr lang="en-US" sz="3200" b="1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Diagram 4 — Model Architecture (Stages 0–2)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93790" y="1730693"/>
            <a:ext cx="13042821" cy="3102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Raw image → CNN backbone → Adaptive 2D Patching with exact tensor dimensions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93790" y="2860000"/>
            <a:ext cx="4225052" cy="4516517"/>
          </a:xfrm>
          <a:prstGeom prst="roundRect">
            <a:avLst>
              <a:gd name="adj" fmla="val 725"/>
            </a:avLst>
          </a:prstGeom>
          <a:solidFill>
            <a:srgbClr val="FFFFFF"/>
          </a:solidFill>
          <a:ln w="22860">
            <a:solidFill>
              <a:srgbClr val="D8D4D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16650" y="2882860"/>
            <a:ext cx="4179332" cy="204073"/>
          </a:xfrm>
          <a:prstGeom prst="roundRect">
            <a:avLst>
              <a:gd name="adj" fmla="val 1563"/>
            </a:avLst>
          </a:prstGeom>
          <a:solidFill>
            <a:srgbClr val="F2EEEE"/>
          </a:solidFill>
          <a:ln/>
        </p:spPr>
      </p:sp>
      <p:sp>
        <p:nvSpPr>
          <p:cNvPr id="6" name="Text 4"/>
          <p:cNvSpPr/>
          <p:nvPr/>
        </p:nvSpPr>
        <p:spPr>
          <a:xfrm>
            <a:off x="1020723" y="3270647"/>
            <a:ext cx="2551748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Stage 0 — Input Image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20723" y="3699629"/>
            <a:ext cx="3771186" cy="6205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Cropped text-line image resized to fixed height of 64px (preserving aspect ratio).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20723" y="4430316"/>
            <a:ext cx="3771186" cy="3102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Shape: H=64 × W=variable × C=3 (RGB)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20723" y="4850725"/>
            <a:ext cx="3771186" cy="9308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Why 64px? 32px loses tiny diacritics (12.1% CER) — 64px captures all 5 rows clearly (3.1% CER). Above 64px = no gain.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202555" y="2553772"/>
            <a:ext cx="4225171" cy="4822746"/>
          </a:xfrm>
          <a:prstGeom prst="roundRect">
            <a:avLst>
              <a:gd name="adj" fmla="val 725"/>
            </a:avLst>
          </a:prstGeom>
          <a:solidFill>
            <a:srgbClr val="FFFFFF"/>
          </a:solidFill>
          <a:ln w="22860">
            <a:solidFill>
              <a:srgbClr val="D8D4D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225415" y="2576632"/>
            <a:ext cx="4179451" cy="204073"/>
          </a:xfrm>
          <a:prstGeom prst="roundRect">
            <a:avLst>
              <a:gd name="adj" fmla="val 1563"/>
            </a:avLst>
          </a:prstGeom>
          <a:solidFill>
            <a:srgbClr val="F2EEEE"/>
          </a:solidFill>
          <a:ln/>
        </p:spPr>
      </p:sp>
      <p:sp>
        <p:nvSpPr>
          <p:cNvPr id="12" name="Text 10"/>
          <p:cNvSpPr/>
          <p:nvPr/>
        </p:nvSpPr>
        <p:spPr>
          <a:xfrm>
            <a:off x="5429488" y="2964418"/>
            <a:ext cx="3771305" cy="6376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Stage 1 — CNN Backbone (ResNet-45)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5429488" y="3712250"/>
            <a:ext cx="3771305" cy="6205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Convolutional filters extract visual features at multiple abstraction levels: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429488" y="4442936"/>
            <a:ext cx="3771305" cy="9308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64×512×3 → Conv1: edges/corners → 32×256×64 → Conv2: strokes → 16×128×128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429488" y="5483900"/>
            <a:ext cx="3771305" cy="9308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Conv3: char parts → 8×64×256 → Conv4: full shapes → Output: H=8 × W=64 × C=512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429488" y="6524863"/>
            <a:ext cx="3771305" cy="6205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Height 8 rows still preserves all 5 Khmer vertical zones — critical for diacritics!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9611439" y="2247662"/>
            <a:ext cx="4225171" cy="5128855"/>
          </a:xfrm>
          <a:prstGeom prst="roundRect">
            <a:avLst>
              <a:gd name="adj" fmla="val 725"/>
            </a:avLst>
          </a:prstGeom>
          <a:solidFill>
            <a:srgbClr val="FFFFFF"/>
          </a:solidFill>
          <a:ln w="22860">
            <a:solidFill>
              <a:srgbClr val="D8D4D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634299" y="2270522"/>
            <a:ext cx="4179451" cy="204073"/>
          </a:xfrm>
          <a:prstGeom prst="roundRect">
            <a:avLst>
              <a:gd name="adj" fmla="val 1563"/>
            </a:avLst>
          </a:prstGeom>
          <a:solidFill>
            <a:srgbClr val="F2EEEE"/>
          </a:solidFill>
          <a:ln/>
        </p:spPr>
      </p:sp>
      <p:sp>
        <p:nvSpPr>
          <p:cNvPr id="19" name="Text 17"/>
          <p:cNvSpPr/>
          <p:nvPr/>
        </p:nvSpPr>
        <p:spPr>
          <a:xfrm>
            <a:off x="9838373" y="2658308"/>
            <a:ext cx="3771305" cy="6376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Stage 2 — Adaptive 2D Patching Module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838373" y="3406140"/>
            <a:ext cx="3771305" cy="9308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Input: 8×64×512 → Divide into column-wise patches (each = one column across ALL 8 rows).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838373" y="4447103"/>
            <a:ext cx="3771305" cy="9308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Each patch: [8×1×512] → Flatten: [8×512] = 4096-dim vector → Linear projection → 512-dim.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838373" y="5488067"/>
            <a:ext cx="3771305" cy="6205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Add positional encoding. Output: 64 patch vectors × 512-dim.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838373" y="6218753"/>
            <a:ext cx="3771305" cy="9308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Unlike 1D: each patch has SEPARATE positions for Row 1 diacritics, Row 3 base, Row 4 subscripts!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8426" y="769501"/>
            <a:ext cx="5291495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50" b="1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Diagram 4 — Model Architecture (Stages 3–5)</a:t>
            </a:r>
            <a:endParaRPr lang="en-US" sz="2150" dirty="0"/>
          </a:p>
        </p:txBody>
      </p:sp>
      <p:sp>
        <p:nvSpPr>
          <p:cNvPr id="3" name="Text 1"/>
          <p:cNvSpPr/>
          <p:nvPr/>
        </p:nvSpPr>
        <p:spPr>
          <a:xfrm>
            <a:off x="738426" y="1278255"/>
            <a:ext cx="13153549" cy="1759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Transformer Encoder → Decoder auto-regressive generation → Unicode text output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738426" y="1547455"/>
            <a:ext cx="13153549" cy="1390888"/>
          </a:xfrm>
          <a:prstGeom prst="roundRect">
            <a:avLst>
              <a:gd name="adj" fmla="val 1479"/>
            </a:avLst>
          </a:prstGeom>
          <a:solidFill>
            <a:srgbClr val="F2EEEE"/>
          </a:solidFill>
          <a:ln/>
        </p:spPr>
      </p:sp>
      <p:sp>
        <p:nvSpPr>
          <p:cNvPr id="5" name="Text 3"/>
          <p:cNvSpPr/>
          <p:nvPr/>
        </p:nvSpPr>
        <p:spPr>
          <a:xfrm>
            <a:off x="875467" y="1684496"/>
            <a:ext cx="3052405" cy="214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3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Stage 3 — Transformer Encoder (12 Layers)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75467" y="1948458"/>
            <a:ext cx="12879467" cy="1759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Processes all 64 patches simultaneously with self-attention — each patch communicates with every other.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875467" y="2174081"/>
            <a:ext cx="12879467" cy="1759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Architecture: 12 layers · 8 attention heads · Model dim 512 · Feed-forward dim 2048 · Dropout 0.1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875467" y="2399705"/>
            <a:ext cx="12879467" cy="1759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Each layer: Multi-Head Self-Attention → Feed-Forward Network → Layer Norm + Residual Connection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75467" y="2625328"/>
            <a:ext cx="12879467" cy="1759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Output: 64 enriched patch vectors × 512-dim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38426" y="3062645"/>
            <a:ext cx="3535561" cy="214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30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Stage 4 — Transformer Decoder (Auto-regressive)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41177" y="3401258"/>
            <a:ext cx="15240" cy="3529608"/>
          </a:xfrm>
          <a:prstGeom prst="roundRect">
            <a:avLst>
              <a:gd name="adj" fmla="val 134992"/>
            </a:avLst>
          </a:prstGeom>
          <a:solidFill>
            <a:srgbClr val="D8D4D4"/>
          </a:solidFill>
          <a:ln/>
        </p:spPr>
      </p:sp>
      <p:sp>
        <p:nvSpPr>
          <p:cNvPr id="12" name="Shape 10"/>
          <p:cNvSpPr/>
          <p:nvPr/>
        </p:nvSpPr>
        <p:spPr>
          <a:xfrm>
            <a:off x="825937" y="3618667"/>
            <a:ext cx="411361" cy="15240"/>
          </a:xfrm>
          <a:prstGeom prst="roundRect">
            <a:avLst>
              <a:gd name="adj" fmla="val 134992"/>
            </a:avLst>
          </a:prstGeom>
          <a:solidFill>
            <a:srgbClr val="D8D4D4"/>
          </a:solidFill>
          <a:ln/>
        </p:spPr>
      </p:sp>
      <p:sp>
        <p:nvSpPr>
          <p:cNvPr id="13" name="Shape 11"/>
          <p:cNvSpPr/>
          <p:nvPr/>
        </p:nvSpPr>
        <p:spPr>
          <a:xfrm>
            <a:off x="789801" y="3574911"/>
            <a:ext cx="102751" cy="102751"/>
          </a:xfrm>
          <a:prstGeom prst="roundRect">
            <a:avLst>
              <a:gd name="adj" fmla="val 444959"/>
            </a:avLst>
          </a:prstGeom>
          <a:solidFill>
            <a:srgbClr val="2150FE"/>
          </a:solidFill>
          <a:ln/>
        </p:spPr>
      </p:sp>
      <p:sp>
        <p:nvSpPr>
          <p:cNvPr id="14" name="Shape 12"/>
          <p:cNvSpPr/>
          <p:nvPr/>
        </p:nvSpPr>
        <p:spPr>
          <a:xfrm>
            <a:off x="1252657" y="3401258"/>
            <a:ext cx="12639318" cy="450056"/>
          </a:xfrm>
          <a:prstGeom prst="roundRect">
            <a:avLst>
              <a:gd name="adj" fmla="val 4571"/>
            </a:avLst>
          </a:prstGeom>
          <a:solidFill>
            <a:srgbClr val="F2EEEE"/>
          </a:solidFill>
          <a:ln/>
        </p:spPr>
      </p:sp>
      <p:sp>
        <p:nvSpPr>
          <p:cNvPr id="15" name="Text 13"/>
          <p:cNvSpPr/>
          <p:nvPr/>
        </p:nvSpPr>
        <p:spPr>
          <a:xfrm>
            <a:off x="1389698" y="3538299"/>
            <a:ext cx="12365236" cy="1759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Step 0: Input: [START] → Predict: ស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25937" y="4234577"/>
            <a:ext cx="411361" cy="15240"/>
          </a:xfrm>
          <a:prstGeom prst="roundRect">
            <a:avLst>
              <a:gd name="adj" fmla="val 134992"/>
            </a:avLst>
          </a:prstGeom>
          <a:solidFill>
            <a:srgbClr val="D8D4D4"/>
          </a:solidFill>
          <a:ln/>
        </p:spPr>
      </p:sp>
      <p:sp>
        <p:nvSpPr>
          <p:cNvPr id="17" name="Shape 15"/>
          <p:cNvSpPr/>
          <p:nvPr/>
        </p:nvSpPr>
        <p:spPr>
          <a:xfrm>
            <a:off x="789801" y="4190821"/>
            <a:ext cx="102751" cy="102751"/>
          </a:xfrm>
          <a:prstGeom prst="roundRect">
            <a:avLst>
              <a:gd name="adj" fmla="val 444959"/>
            </a:avLst>
          </a:prstGeom>
          <a:solidFill>
            <a:srgbClr val="2150FE"/>
          </a:solidFill>
          <a:ln/>
        </p:spPr>
      </p:sp>
      <p:sp>
        <p:nvSpPr>
          <p:cNvPr id="18" name="Shape 16"/>
          <p:cNvSpPr/>
          <p:nvPr/>
        </p:nvSpPr>
        <p:spPr>
          <a:xfrm>
            <a:off x="1252657" y="4017169"/>
            <a:ext cx="12639318" cy="450056"/>
          </a:xfrm>
          <a:prstGeom prst="roundRect">
            <a:avLst>
              <a:gd name="adj" fmla="val 4571"/>
            </a:avLst>
          </a:prstGeom>
          <a:solidFill>
            <a:srgbClr val="F2EEEE"/>
          </a:solidFill>
          <a:ln/>
        </p:spPr>
      </p:sp>
      <p:sp>
        <p:nvSpPr>
          <p:cNvPr id="19" name="Text 17"/>
          <p:cNvSpPr/>
          <p:nvPr/>
        </p:nvSpPr>
        <p:spPr>
          <a:xfrm>
            <a:off x="1389698" y="4154210"/>
            <a:ext cx="12365236" cy="1759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Step 1: Input: [START, ស] → Predict: ្ (coeng)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825937" y="4850487"/>
            <a:ext cx="411361" cy="15240"/>
          </a:xfrm>
          <a:prstGeom prst="roundRect">
            <a:avLst>
              <a:gd name="adj" fmla="val 134992"/>
            </a:avLst>
          </a:prstGeom>
          <a:solidFill>
            <a:srgbClr val="D8D4D4"/>
          </a:solidFill>
          <a:ln/>
        </p:spPr>
      </p:sp>
      <p:sp>
        <p:nvSpPr>
          <p:cNvPr id="21" name="Shape 19"/>
          <p:cNvSpPr/>
          <p:nvPr/>
        </p:nvSpPr>
        <p:spPr>
          <a:xfrm>
            <a:off x="789801" y="4806732"/>
            <a:ext cx="102751" cy="102751"/>
          </a:xfrm>
          <a:prstGeom prst="roundRect">
            <a:avLst>
              <a:gd name="adj" fmla="val 444959"/>
            </a:avLst>
          </a:prstGeom>
          <a:solidFill>
            <a:srgbClr val="2150FE"/>
          </a:solidFill>
          <a:ln/>
        </p:spPr>
      </p:sp>
      <p:sp>
        <p:nvSpPr>
          <p:cNvPr id="22" name="Shape 20"/>
          <p:cNvSpPr/>
          <p:nvPr/>
        </p:nvSpPr>
        <p:spPr>
          <a:xfrm>
            <a:off x="1252657" y="4633079"/>
            <a:ext cx="12639318" cy="450056"/>
          </a:xfrm>
          <a:prstGeom prst="roundRect">
            <a:avLst>
              <a:gd name="adj" fmla="val 4571"/>
            </a:avLst>
          </a:prstGeom>
          <a:solidFill>
            <a:srgbClr val="F2EEEE"/>
          </a:solidFill>
          <a:ln/>
        </p:spPr>
      </p:sp>
      <p:sp>
        <p:nvSpPr>
          <p:cNvPr id="23" name="Text 21"/>
          <p:cNvSpPr/>
          <p:nvPr/>
        </p:nvSpPr>
        <p:spPr>
          <a:xfrm>
            <a:off x="1389698" y="4770120"/>
            <a:ext cx="12365236" cy="1759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Step 2: Input: [START, ស, ្] → Predict: ត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825937" y="5466398"/>
            <a:ext cx="411361" cy="15240"/>
          </a:xfrm>
          <a:prstGeom prst="roundRect">
            <a:avLst>
              <a:gd name="adj" fmla="val 134992"/>
            </a:avLst>
          </a:prstGeom>
          <a:solidFill>
            <a:srgbClr val="D8D4D4"/>
          </a:solidFill>
          <a:ln/>
        </p:spPr>
      </p:sp>
      <p:sp>
        <p:nvSpPr>
          <p:cNvPr id="25" name="Shape 23"/>
          <p:cNvSpPr/>
          <p:nvPr/>
        </p:nvSpPr>
        <p:spPr>
          <a:xfrm>
            <a:off x="789801" y="5422642"/>
            <a:ext cx="102751" cy="102751"/>
          </a:xfrm>
          <a:prstGeom prst="roundRect">
            <a:avLst>
              <a:gd name="adj" fmla="val 444959"/>
            </a:avLst>
          </a:prstGeom>
          <a:solidFill>
            <a:srgbClr val="2150FE"/>
          </a:solidFill>
          <a:ln/>
        </p:spPr>
      </p:sp>
      <p:sp>
        <p:nvSpPr>
          <p:cNvPr id="26" name="Shape 24"/>
          <p:cNvSpPr/>
          <p:nvPr/>
        </p:nvSpPr>
        <p:spPr>
          <a:xfrm>
            <a:off x="1252657" y="5248989"/>
            <a:ext cx="12639318" cy="450056"/>
          </a:xfrm>
          <a:prstGeom prst="roundRect">
            <a:avLst>
              <a:gd name="adj" fmla="val 4571"/>
            </a:avLst>
          </a:prstGeom>
          <a:solidFill>
            <a:srgbClr val="F2EEEE"/>
          </a:solidFill>
          <a:ln/>
        </p:spPr>
      </p:sp>
      <p:sp>
        <p:nvSpPr>
          <p:cNvPr id="27" name="Text 25"/>
          <p:cNvSpPr/>
          <p:nvPr/>
        </p:nvSpPr>
        <p:spPr>
          <a:xfrm>
            <a:off x="1389698" y="5386030"/>
            <a:ext cx="12365236" cy="1759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Step 3: Input: [START, ស, ្, ត, ្] → Predict: រ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825937" y="6082308"/>
            <a:ext cx="411361" cy="15240"/>
          </a:xfrm>
          <a:prstGeom prst="roundRect">
            <a:avLst>
              <a:gd name="adj" fmla="val 134992"/>
            </a:avLst>
          </a:prstGeom>
          <a:solidFill>
            <a:srgbClr val="D8D4D4"/>
          </a:solidFill>
          <a:ln/>
        </p:spPr>
      </p:sp>
      <p:sp>
        <p:nvSpPr>
          <p:cNvPr id="29" name="Shape 27"/>
          <p:cNvSpPr/>
          <p:nvPr/>
        </p:nvSpPr>
        <p:spPr>
          <a:xfrm>
            <a:off x="789801" y="6038552"/>
            <a:ext cx="102751" cy="102751"/>
          </a:xfrm>
          <a:prstGeom prst="roundRect">
            <a:avLst>
              <a:gd name="adj" fmla="val 444959"/>
            </a:avLst>
          </a:prstGeom>
          <a:solidFill>
            <a:srgbClr val="2150FE"/>
          </a:solidFill>
          <a:ln/>
        </p:spPr>
      </p:sp>
      <p:sp>
        <p:nvSpPr>
          <p:cNvPr id="30" name="Shape 28"/>
          <p:cNvSpPr/>
          <p:nvPr/>
        </p:nvSpPr>
        <p:spPr>
          <a:xfrm>
            <a:off x="1252657" y="5864900"/>
            <a:ext cx="12639318" cy="450056"/>
          </a:xfrm>
          <a:prstGeom prst="roundRect">
            <a:avLst>
              <a:gd name="adj" fmla="val 4571"/>
            </a:avLst>
          </a:prstGeom>
          <a:solidFill>
            <a:srgbClr val="F2EEEE"/>
          </a:solidFill>
          <a:ln/>
        </p:spPr>
      </p:sp>
      <p:sp>
        <p:nvSpPr>
          <p:cNvPr id="31" name="Text 29"/>
          <p:cNvSpPr/>
          <p:nvPr/>
        </p:nvSpPr>
        <p:spPr>
          <a:xfrm>
            <a:off x="1389698" y="6001941"/>
            <a:ext cx="12365236" cy="1759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Step 4: Input: [START, ស, ្, ត, ្, រ] → Predict: ី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825937" y="6698218"/>
            <a:ext cx="411361" cy="15240"/>
          </a:xfrm>
          <a:prstGeom prst="roundRect">
            <a:avLst>
              <a:gd name="adj" fmla="val 134992"/>
            </a:avLst>
          </a:prstGeom>
          <a:solidFill>
            <a:srgbClr val="D8D4D4"/>
          </a:solidFill>
          <a:ln/>
        </p:spPr>
      </p:sp>
      <p:sp>
        <p:nvSpPr>
          <p:cNvPr id="33" name="Shape 31"/>
          <p:cNvSpPr/>
          <p:nvPr/>
        </p:nvSpPr>
        <p:spPr>
          <a:xfrm>
            <a:off x="789801" y="6654463"/>
            <a:ext cx="102751" cy="102751"/>
          </a:xfrm>
          <a:prstGeom prst="roundRect">
            <a:avLst>
              <a:gd name="adj" fmla="val 444959"/>
            </a:avLst>
          </a:prstGeom>
          <a:solidFill>
            <a:srgbClr val="2150FE"/>
          </a:solidFill>
          <a:ln/>
        </p:spPr>
      </p:sp>
      <p:sp>
        <p:nvSpPr>
          <p:cNvPr id="34" name="Shape 32"/>
          <p:cNvSpPr/>
          <p:nvPr/>
        </p:nvSpPr>
        <p:spPr>
          <a:xfrm>
            <a:off x="1252657" y="6480810"/>
            <a:ext cx="12639318" cy="450056"/>
          </a:xfrm>
          <a:prstGeom prst="roundRect">
            <a:avLst>
              <a:gd name="adj" fmla="val 4571"/>
            </a:avLst>
          </a:prstGeom>
          <a:solidFill>
            <a:srgbClr val="F2EEEE"/>
          </a:solidFill>
          <a:ln/>
        </p:spPr>
      </p:sp>
      <p:sp>
        <p:nvSpPr>
          <p:cNvPr id="35" name="Text 33"/>
          <p:cNvSpPr/>
          <p:nvPr/>
        </p:nvSpPr>
        <p:spPr>
          <a:xfrm>
            <a:off x="1389698" y="6617851"/>
            <a:ext cx="12365236" cy="1759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Step 5: Input: [START, ស, ្, ត, ្, រ, ី] → Predict: [END] → Final: ស្ត្រី ✓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738426" y="7024092"/>
            <a:ext cx="13153549" cy="436007"/>
          </a:xfrm>
          <a:prstGeom prst="roundRect">
            <a:avLst>
              <a:gd name="adj" fmla="val 4718"/>
            </a:avLst>
          </a:prstGeom>
          <a:solidFill>
            <a:srgbClr val="B3C3FF"/>
          </a:solidFill>
          <a:ln/>
        </p:spPr>
      </p:sp>
      <p:pic>
        <p:nvPicPr>
          <p:cNvPr id="3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5467" y="7204829"/>
            <a:ext cx="171331" cy="137041"/>
          </a:xfrm>
          <a:prstGeom prst="rect">
            <a:avLst/>
          </a:prstGeom>
        </p:spPr>
      </p:pic>
      <p:sp>
        <p:nvSpPr>
          <p:cNvPr id="38" name="Text 35"/>
          <p:cNvSpPr/>
          <p:nvPr/>
        </p:nvSpPr>
        <p:spPr>
          <a:xfrm>
            <a:off x="1183838" y="7141131"/>
            <a:ext cx="12571095" cy="1759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Vocabulary: ~120 tokens (114 Khmer Unicode codepoints + [PAD] [UNK] [START] [END]). Stage 5 — Final Output: Khmer Unicode Text — can now be stored, searched, translated, or spoken aloud.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903803"/>
            <a:ext cx="8017788" cy="4536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550"/>
              </a:lnSpc>
              <a:buNone/>
            </a:pPr>
            <a:r>
              <a:rPr lang="en-US" sz="2850" b="1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Diagram 5 — Image Chunking &amp; Merging Algorithm</a:t>
            </a:r>
            <a:endParaRPr lang="en-US" sz="2850" dirty="0"/>
          </a:p>
        </p:txBody>
      </p:sp>
      <p:sp>
        <p:nvSpPr>
          <p:cNvPr id="3" name="Text 1"/>
          <p:cNvSpPr/>
          <p:nvPr/>
        </p:nvSpPr>
        <p:spPr>
          <a:xfrm>
            <a:off x="793790" y="1647706"/>
            <a:ext cx="13042821" cy="261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4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How very long text lines are split, processed, and recombined — with 5× speed gain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93790" y="2072164"/>
            <a:ext cx="181451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400" dirty="0">
                <a:solidFill>
                  <a:srgbClr val="4C4C4D"/>
                </a:solidFill>
                <a:latin typeface="Crimson Pro Light" pitchFamily="34" charset="0"/>
                <a:ea typeface="Crimson Pro Light" pitchFamily="34" charset="-122"/>
                <a:cs typeface="Crimson Pro Light" pitchFamily="34" charset="-120"/>
              </a:rPr>
              <a:t>01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93790" y="2357676"/>
            <a:ext cx="6448782" cy="22860"/>
          </a:xfrm>
          <a:prstGeom prst="rect">
            <a:avLst/>
          </a:prstGeom>
          <a:solidFill>
            <a:srgbClr val="2150FE"/>
          </a:solidFill>
          <a:ln/>
        </p:spPr>
      </p:sp>
      <p:sp>
        <p:nvSpPr>
          <p:cNvPr id="6" name="Text 4"/>
          <p:cNvSpPr/>
          <p:nvPr/>
        </p:nvSpPr>
        <p:spPr>
          <a:xfrm>
            <a:off x="793790" y="2494121"/>
            <a:ext cx="3551277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Original Long Image (64px × 2000px)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93790" y="2864644"/>
            <a:ext cx="6448782" cy="522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4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Full Khmer text line: ជំរាបសួរ អ្នកទាំងអស់គ្នា រស់នៅសុខសប្បាយទេ នេះជាប្រយោគវែងមួយ — too long for direct processing.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87709" y="2072164"/>
            <a:ext cx="181451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400" dirty="0">
                <a:solidFill>
                  <a:srgbClr val="4C4C4D"/>
                </a:solidFill>
                <a:latin typeface="Crimson Pro Light" pitchFamily="34" charset="0"/>
                <a:ea typeface="Crimson Pro Light" pitchFamily="34" charset="-122"/>
                <a:cs typeface="Crimson Pro Light" pitchFamily="34" charset="-120"/>
              </a:rPr>
              <a:t>02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387709" y="2357676"/>
            <a:ext cx="6448901" cy="22860"/>
          </a:xfrm>
          <a:prstGeom prst="rect">
            <a:avLst/>
          </a:prstGeom>
          <a:solidFill>
            <a:srgbClr val="2150FE"/>
          </a:solidFill>
          <a:ln/>
        </p:spPr>
      </p:sp>
      <p:sp>
        <p:nvSpPr>
          <p:cNvPr id="10" name="Text 8"/>
          <p:cNvSpPr/>
          <p:nvPr/>
        </p:nvSpPr>
        <p:spPr>
          <a:xfrm>
            <a:off x="7387709" y="2494121"/>
            <a:ext cx="2841903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Split into Overlapping Chunks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7387709" y="2864644"/>
            <a:ext cx="6448901" cy="7836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4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Divide into 5 chunks of W=400px each, with 100px overlap between neighbors. Overlap prevents cutting characters at boundaries. Chunks: [ជំរាបសួរ អ្នក] [អ្នកទាំងអស់គ្នា] [គ្នា រស់នៅសុខ] [សុខសប្បាយទេ នេះ] [នេះជាប្រយោគវែង]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93790" y="3929539"/>
            <a:ext cx="181451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400" dirty="0">
                <a:solidFill>
                  <a:srgbClr val="4C4C4D"/>
                </a:solidFill>
                <a:latin typeface="Crimson Pro Light" pitchFamily="34" charset="0"/>
                <a:ea typeface="Crimson Pro Light" pitchFamily="34" charset="-122"/>
                <a:cs typeface="Crimson Pro Light" pitchFamily="34" charset="-120"/>
              </a:rPr>
              <a:t>03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93790" y="4215051"/>
            <a:ext cx="6448782" cy="22860"/>
          </a:xfrm>
          <a:prstGeom prst="rect">
            <a:avLst/>
          </a:prstGeom>
          <a:solidFill>
            <a:srgbClr val="2150FE"/>
          </a:solidFill>
          <a:ln/>
        </p:spPr>
      </p:sp>
      <p:sp>
        <p:nvSpPr>
          <p:cNvPr id="14" name="Text 12"/>
          <p:cNvSpPr/>
          <p:nvPr/>
        </p:nvSpPr>
        <p:spPr>
          <a:xfrm>
            <a:off x="793790" y="4351496"/>
            <a:ext cx="330529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Process Each Chunk Independently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793790" y="4722019"/>
            <a:ext cx="6448782" cy="7836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4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Each chunk runs through the full CNN + Transformer pipeline. Confidence scores: Chunk 1: 0.97 · Chunk 2: 0.95 · Chunk 3: 0.96 · Chunk 4: 0.94 · Chunk 5: 0.93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387709" y="3929539"/>
            <a:ext cx="181451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400" dirty="0">
                <a:solidFill>
                  <a:srgbClr val="4C4C4D"/>
                </a:solidFill>
                <a:latin typeface="Crimson Pro Light" pitchFamily="34" charset="0"/>
                <a:ea typeface="Crimson Pro Light" pitchFamily="34" charset="-122"/>
                <a:cs typeface="Crimson Pro Light" pitchFamily="34" charset="-120"/>
              </a:rPr>
              <a:t>04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7387709" y="4215051"/>
            <a:ext cx="6448901" cy="22860"/>
          </a:xfrm>
          <a:prstGeom prst="rect">
            <a:avLst/>
          </a:prstGeom>
          <a:solidFill>
            <a:srgbClr val="2150FE"/>
          </a:solidFill>
          <a:ln/>
        </p:spPr>
      </p:sp>
      <p:sp>
        <p:nvSpPr>
          <p:cNvPr id="18" name="Text 16"/>
          <p:cNvSpPr/>
          <p:nvPr/>
        </p:nvSpPr>
        <p:spPr>
          <a:xfrm>
            <a:off x="7387709" y="4351496"/>
            <a:ext cx="3085028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Merge Predictions by Confidence</a:t>
            </a:r>
            <a:endParaRPr lang="en-US" sz="1750" dirty="0"/>
          </a:p>
        </p:txBody>
      </p:sp>
      <p:sp>
        <p:nvSpPr>
          <p:cNvPr id="19" name="Text 17"/>
          <p:cNvSpPr/>
          <p:nvPr/>
        </p:nvSpPr>
        <p:spPr>
          <a:xfrm>
            <a:off x="7387709" y="4722019"/>
            <a:ext cx="6448901" cy="522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4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Use center-of-chunk text, discard overlapping edges. Final output: ✓ ជំរាបសួរ អ្នកទាំងអស់គ្នា រស់នៅសុខសប្បាយទេ នេះជាប្រយោគវែងមួយ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216462" y="5895737"/>
            <a:ext cx="3381256" cy="5987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4700"/>
              </a:lnSpc>
              <a:buNone/>
            </a:pPr>
            <a:r>
              <a:rPr lang="en-US" sz="47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4M</a:t>
            </a:r>
            <a:endParaRPr lang="en-US" sz="4700" dirty="0"/>
          </a:p>
        </p:txBody>
      </p:sp>
      <p:sp>
        <p:nvSpPr>
          <p:cNvPr id="21" name="Text 19"/>
          <p:cNvSpPr/>
          <p:nvPr/>
        </p:nvSpPr>
        <p:spPr>
          <a:xfrm>
            <a:off x="1772960" y="6694051"/>
            <a:ext cx="2268260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Attention Operations</a:t>
            </a:r>
            <a:endParaRPr lang="en-US" sz="1750" dirty="0"/>
          </a:p>
        </p:txBody>
      </p:sp>
      <p:sp>
        <p:nvSpPr>
          <p:cNvPr id="22" name="Text 20"/>
          <p:cNvSpPr/>
          <p:nvPr/>
        </p:nvSpPr>
        <p:spPr>
          <a:xfrm>
            <a:off x="793790" y="7064573"/>
            <a:ext cx="4226600" cy="261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050"/>
              </a:lnSpc>
              <a:buNone/>
            </a:pPr>
            <a:r>
              <a:rPr lang="en-US" sz="14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Without chunking — O(2000²)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624512" y="5895737"/>
            <a:ext cx="3381256" cy="5987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4700"/>
              </a:lnSpc>
              <a:buNone/>
            </a:pPr>
            <a:r>
              <a:rPr lang="en-US" sz="47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800K</a:t>
            </a:r>
            <a:endParaRPr lang="en-US" sz="4700" dirty="0"/>
          </a:p>
        </p:txBody>
      </p:sp>
      <p:sp>
        <p:nvSpPr>
          <p:cNvPr id="24" name="Text 22"/>
          <p:cNvSpPr/>
          <p:nvPr/>
        </p:nvSpPr>
        <p:spPr>
          <a:xfrm>
            <a:off x="6181011" y="6694051"/>
            <a:ext cx="2268260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Attention Operations</a:t>
            </a:r>
            <a:endParaRPr lang="en-US" sz="1750" dirty="0"/>
          </a:p>
        </p:txBody>
      </p:sp>
      <p:sp>
        <p:nvSpPr>
          <p:cNvPr id="25" name="Text 23"/>
          <p:cNvSpPr/>
          <p:nvPr/>
        </p:nvSpPr>
        <p:spPr>
          <a:xfrm>
            <a:off x="5201841" y="7064573"/>
            <a:ext cx="4226600" cy="261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050"/>
              </a:lnSpc>
              <a:buNone/>
            </a:pPr>
            <a:r>
              <a:rPr lang="en-US" sz="14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With 5 chunks — O(5×400²)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0032563" y="5895737"/>
            <a:ext cx="3381375" cy="5987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4700"/>
              </a:lnSpc>
              <a:buNone/>
            </a:pPr>
            <a:r>
              <a:rPr lang="en-US" sz="47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5×</a:t>
            </a:r>
            <a:endParaRPr lang="en-US" sz="4700" dirty="0"/>
          </a:p>
        </p:txBody>
      </p:sp>
      <p:sp>
        <p:nvSpPr>
          <p:cNvPr id="27" name="Text 25"/>
          <p:cNvSpPr/>
          <p:nvPr/>
        </p:nvSpPr>
        <p:spPr>
          <a:xfrm>
            <a:off x="10589062" y="6694051"/>
            <a:ext cx="2268260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Speed Improvement</a:t>
            </a:r>
            <a:endParaRPr lang="en-US" sz="1750" dirty="0"/>
          </a:p>
        </p:txBody>
      </p:sp>
      <p:sp>
        <p:nvSpPr>
          <p:cNvPr id="28" name="Text 26"/>
          <p:cNvSpPr/>
          <p:nvPr/>
        </p:nvSpPr>
        <p:spPr>
          <a:xfrm>
            <a:off x="9609892" y="7064573"/>
            <a:ext cx="4226719" cy="261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050"/>
              </a:lnSpc>
              <a:buNone/>
            </a:pPr>
            <a:r>
              <a:rPr lang="en-US" sz="14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Faster processing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31282"/>
            <a:ext cx="5992773" cy="3686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Diagram 6 — Training Data Generation Pipeline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793790" y="1291471"/>
            <a:ext cx="13042821" cy="194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How 2.8 million synthetic training images were created from scratch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1014889" y="1962269"/>
            <a:ext cx="6252329" cy="147399"/>
          </a:xfrm>
          <a:prstGeom prst="roundRect">
            <a:avLst>
              <a:gd name="adj" fmla="val 15004"/>
            </a:avLst>
          </a:prstGeom>
          <a:solidFill>
            <a:srgbClr val="F2EEEE"/>
          </a:solidFill>
          <a:ln/>
        </p:spPr>
      </p:sp>
      <p:sp>
        <p:nvSpPr>
          <p:cNvPr id="5" name="Shape 3"/>
          <p:cNvSpPr/>
          <p:nvPr/>
        </p:nvSpPr>
        <p:spPr>
          <a:xfrm>
            <a:off x="793790" y="1814870"/>
            <a:ext cx="442198" cy="442198"/>
          </a:xfrm>
          <a:prstGeom prst="roundRect">
            <a:avLst>
              <a:gd name="adj" fmla="val 103393"/>
            </a:avLst>
          </a:prstGeom>
          <a:solidFill>
            <a:srgbClr val="F2EEEE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04280" y="1925479"/>
            <a:ext cx="221099" cy="22109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41189" y="2352794"/>
            <a:ext cx="1842968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Text Sources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941189" y="2640568"/>
            <a:ext cx="6178748" cy="389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Khmer Wikipedia, news articles, Khmer Bible, and literary texts — diverse real-world Khmer language content.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7584162" y="1741170"/>
            <a:ext cx="6252329" cy="147399"/>
          </a:xfrm>
          <a:prstGeom prst="roundRect">
            <a:avLst>
              <a:gd name="adj" fmla="val 15004"/>
            </a:avLst>
          </a:prstGeom>
          <a:solidFill>
            <a:srgbClr val="F2EEEE"/>
          </a:solidFill>
          <a:ln/>
        </p:spPr>
      </p:sp>
      <p:sp>
        <p:nvSpPr>
          <p:cNvPr id="10" name="Shape 7"/>
          <p:cNvSpPr/>
          <p:nvPr/>
        </p:nvSpPr>
        <p:spPr>
          <a:xfrm>
            <a:off x="7363063" y="1593771"/>
            <a:ext cx="442198" cy="442198"/>
          </a:xfrm>
          <a:prstGeom prst="roundRect">
            <a:avLst>
              <a:gd name="adj" fmla="val 103393"/>
            </a:avLst>
          </a:prstGeom>
          <a:solidFill>
            <a:srgbClr val="F2EEEE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473553" y="1704380"/>
            <a:ext cx="221099" cy="22109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510462" y="2131695"/>
            <a:ext cx="1842968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48 Fonts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7510462" y="2419469"/>
            <a:ext cx="6178748" cy="194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Various Khmer fonts covering different styles — from modern digital to traditional print.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1014889" y="3641288"/>
            <a:ext cx="6252329" cy="147399"/>
          </a:xfrm>
          <a:prstGeom prst="roundRect">
            <a:avLst>
              <a:gd name="adj" fmla="val 15004"/>
            </a:avLst>
          </a:prstGeom>
          <a:solidFill>
            <a:srgbClr val="F2EEEE"/>
          </a:solidFill>
          <a:ln/>
        </p:spPr>
      </p:sp>
      <p:sp>
        <p:nvSpPr>
          <p:cNvPr id="15" name="Shape 11"/>
          <p:cNvSpPr/>
          <p:nvPr/>
        </p:nvSpPr>
        <p:spPr>
          <a:xfrm>
            <a:off x="793790" y="3493889"/>
            <a:ext cx="442198" cy="442198"/>
          </a:xfrm>
          <a:prstGeom prst="roundRect">
            <a:avLst>
              <a:gd name="adj" fmla="val 103393"/>
            </a:avLst>
          </a:prstGeom>
          <a:solidFill>
            <a:srgbClr val="F2EEEE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04280" y="3604498"/>
            <a:ext cx="221099" cy="221099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41189" y="4031813"/>
            <a:ext cx="1842968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Rendering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941189" y="4319587"/>
            <a:ext cx="6178748" cy="389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Text rendered as images at various sizes and layouts, simulating real document and scene conditions.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7584162" y="3420189"/>
            <a:ext cx="6252329" cy="147399"/>
          </a:xfrm>
          <a:prstGeom prst="roundRect">
            <a:avLst>
              <a:gd name="adj" fmla="val 15004"/>
            </a:avLst>
          </a:prstGeom>
          <a:solidFill>
            <a:srgbClr val="F2EEEE"/>
          </a:solidFill>
          <a:ln/>
        </p:spPr>
      </p:sp>
      <p:sp>
        <p:nvSpPr>
          <p:cNvPr id="20" name="Shape 15"/>
          <p:cNvSpPr/>
          <p:nvPr/>
        </p:nvSpPr>
        <p:spPr>
          <a:xfrm>
            <a:off x="7363063" y="3272790"/>
            <a:ext cx="442198" cy="442198"/>
          </a:xfrm>
          <a:prstGeom prst="roundRect">
            <a:avLst>
              <a:gd name="adj" fmla="val 103393"/>
            </a:avLst>
          </a:prstGeom>
          <a:solidFill>
            <a:srgbClr val="F2EEEE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473553" y="3383399"/>
            <a:ext cx="221099" cy="221099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510462" y="3810714"/>
            <a:ext cx="1842968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Augmentation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7510462" y="4098488"/>
            <a:ext cx="6178748" cy="389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Blur, noise, rotation, perspective warp, compression — making the model robust to real-world degradation.</a:t>
            </a:r>
            <a:endParaRPr lang="en-US" sz="1150" dirty="0"/>
          </a:p>
        </p:txBody>
      </p:sp>
      <p:sp>
        <p:nvSpPr>
          <p:cNvPr id="24" name="Text 18"/>
          <p:cNvSpPr/>
          <p:nvPr/>
        </p:nvSpPr>
        <p:spPr>
          <a:xfrm>
            <a:off x="793790" y="5059561"/>
            <a:ext cx="1842968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5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Document Text Dataset</a:t>
            </a:r>
            <a:endParaRPr lang="en-US" sz="1450" dirty="0"/>
          </a:p>
        </p:txBody>
      </p:sp>
      <p:sp>
        <p:nvSpPr>
          <p:cNvPr id="25" name="Text 19"/>
          <p:cNvSpPr/>
          <p:nvPr/>
        </p:nvSpPr>
        <p:spPr>
          <a:xfrm>
            <a:off x="1903571" y="5471398"/>
            <a:ext cx="4121944" cy="4864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800"/>
              </a:lnSpc>
              <a:buNone/>
            </a:pPr>
            <a:r>
              <a:rPr lang="en-US" sz="38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1.5M</a:t>
            </a:r>
            <a:endParaRPr lang="en-US" sz="3800" dirty="0"/>
          </a:p>
        </p:txBody>
      </p:sp>
      <p:sp>
        <p:nvSpPr>
          <p:cNvPr id="26" name="Text 20"/>
          <p:cNvSpPr/>
          <p:nvPr/>
        </p:nvSpPr>
        <p:spPr>
          <a:xfrm>
            <a:off x="793790" y="6103382"/>
            <a:ext cx="6341626" cy="194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Clean text on white/light backgrounds. Simulates scanned documents, PDFs, printed pages.</a:t>
            </a:r>
            <a:endParaRPr lang="en-US" sz="1150" dirty="0"/>
          </a:p>
        </p:txBody>
      </p:sp>
      <p:sp>
        <p:nvSpPr>
          <p:cNvPr id="27" name="Text 21"/>
          <p:cNvSpPr/>
          <p:nvPr/>
        </p:nvSpPr>
        <p:spPr>
          <a:xfrm>
            <a:off x="793790" y="6405682"/>
            <a:ext cx="6341626" cy="1557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Augmentations: Gaussian blur, salt-and-pepper noise, JPEG compression, brightness variation, slight rotation.</a:t>
            </a:r>
            <a:endParaRPr lang="en-US" sz="900" dirty="0"/>
          </a:p>
        </p:txBody>
      </p:sp>
      <p:sp>
        <p:nvSpPr>
          <p:cNvPr id="28" name="Text 22"/>
          <p:cNvSpPr/>
          <p:nvPr/>
        </p:nvSpPr>
        <p:spPr>
          <a:xfrm>
            <a:off x="7502604" y="5059561"/>
            <a:ext cx="1842968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5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Scene Text Dataset</a:t>
            </a:r>
            <a:endParaRPr lang="en-US" sz="1450" dirty="0"/>
          </a:p>
        </p:txBody>
      </p:sp>
      <p:sp>
        <p:nvSpPr>
          <p:cNvPr id="29" name="Text 23"/>
          <p:cNvSpPr/>
          <p:nvPr/>
        </p:nvSpPr>
        <p:spPr>
          <a:xfrm>
            <a:off x="8612386" y="5471398"/>
            <a:ext cx="4121944" cy="4864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800"/>
              </a:lnSpc>
              <a:buNone/>
            </a:pPr>
            <a:r>
              <a:rPr lang="en-US" sz="38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1.3M</a:t>
            </a:r>
            <a:endParaRPr lang="en-US" sz="3800" dirty="0"/>
          </a:p>
        </p:txBody>
      </p:sp>
      <p:sp>
        <p:nvSpPr>
          <p:cNvPr id="30" name="Text 24"/>
          <p:cNvSpPr/>
          <p:nvPr/>
        </p:nvSpPr>
        <p:spPr>
          <a:xfrm>
            <a:off x="7502604" y="6103382"/>
            <a:ext cx="6341626" cy="194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Text on real-world photo backgrounds. Simulates signs, billboards, menus, storefronts.</a:t>
            </a:r>
            <a:endParaRPr lang="en-US" sz="1150" dirty="0"/>
          </a:p>
        </p:txBody>
      </p:sp>
      <p:sp>
        <p:nvSpPr>
          <p:cNvPr id="31" name="Text 25"/>
          <p:cNvSpPr/>
          <p:nvPr/>
        </p:nvSpPr>
        <p:spPr>
          <a:xfrm>
            <a:off x="7502604" y="6405682"/>
            <a:ext cx="6341626" cy="1557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Augmentations: Perspective warp, elastic deformation, motion blur, shadow effects, color jitter.</a:t>
            </a:r>
            <a:endParaRPr lang="en-US" sz="900" dirty="0"/>
          </a:p>
        </p:txBody>
      </p:sp>
      <p:sp>
        <p:nvSpPr>
          <p:cNvPr id="32" name="Text 26"/>
          <p:cNvSpPr/>
          <p:nvPr/>
        </p:nvSpPr>
        <p:spPr>
          <a:xfrm>
            <a:off x="5579864" y="6791325"/>
            <a:ext cx="3470553" cy="3686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2.8M Total Training Images</a:t>
            </a:r>
            <a:endParaRPr lang="en-US" sz="2300" dirty="0"/>
          </a:p>
        </p:txBody>
      </p:sp>
      <p:sp>
        <p:nvSpPr>
          <p:cNvPr id="33" name="Text 27"/>
          <p:cNvSpPr/>
          <p:nvPr/>
        </p:nvSpPr>
        <p:spPr>
          <a:xfrm>
            <a:off x="793790" y="7303651"/>
            <a:ext cx="13042821" cy="194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Split: Train 80% / Validation 10% / Test 10% · Fully annotated at character level · 48 Khmer fonts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37342"/>
            <a:ext cx="9060418" cy="5387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200"/>
              </a:lnSpc>
              <a:buNone/>
            </a:pPr>
            <a:r>
              <a:rPr lang="en-US" sz="3350" b="1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Diagram 7 — Impact of Image Height on Accuracy</a:t>
            </a:r>
            <a:endParaRPr lang="en-US" sz="3350" dirty="0"/>
          </a:p>
        </p:txBody>
      </p:sp>
      <p:sp>
        <p:nvSpPr>
          <p:cNvPr id="3" name="Text 1"/>
          <p:cNvSpPr/>
          <p:nvPr/>
        </p:nvSpPr>
        <p:spPr>
          <a:xfrm>
            <a:off x="793790" y="1585436"/>
            <a:ext cx="13042821" cy="336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Why the standard 32px used in English OCR fails catastrophically for Khmer</a:t>
            </a:r>
            <a:endParaRPr lang="en-US" sz="1650" dirty="0"/>
          </a:p>
        </p:txBody>
      </p:sp>
      <p:sp>
        <p:nvSpPr>
          <p:cNvPr id="4" name="Shape 2"/>
          <p:cNvSpPr/>
          <p:nvPr/>
        </p:nvSpPr>
        <p:spPr>
          <a:xfrm>
            <a:off x="793790" y="2259449"/>
            <a:ext cx="5235178" cy="269319"/>
          </a:xfrm>
          <a:prstGeom prst="roundRect">
            <a:avLst>
              <a:gd name="adj" fmla="val 12002"/>
            </a:avLst>
          </a:prstGeom>
          <a:solidFill>
            <a:srgbClr val="F2EEEE"/>
          </a:solidFill>
          <a:ln/>
        </p:spPr>
      </p:sp>
      <p:sp>
        <p:nvSpPr>
          <p:cNvPr id="5" name="Shape 3"/>
          <p:cNvSpPr/>
          <p:nvPr/>
        </p:nvSpPr>
        <p:spPr>
          <a:xfrm>
            <a:off x="793790" y="2259449"/>
            <a:ext cx="1172647" cy="269319"/>
          </a:xfrm>
          <a:prstGeom prst="roundRect">
            <a:avLst>
              <a:gd name="adj" fmla="val 12002"/>
            </a:avLst>
          </a:prstGeom>
          <a:solidFill>
            <a:srgbClr val="2150FE"/>
          </a:solidFill>
          <a:ln/>
        </p:spPr>
      </p:sp>
      <p:sp>
        <p:nvSpPr>
          <p:cNvPr id="6" name="Text 4"/>
          <p:cNvSpPr/>
          <p:nvPr/>
        </p:nvSpPr>
        <p:spPr>
          <a:xfrm>
            <a:off x="6190536" y="2259449"/>
            <a:ext cx="676989" cy="2693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21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22.4%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793790" y="2789873"/>
            <a:ext cx="6393418" cy="336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16px — Too small, diacritics invisible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7443073" y="2259449"/>
            <a:ext cx="5310426" cy="269319"/>
          </a:xfrm>
          <a:prstGeom prst="roundRect">
            <a:avLst>
              <a:gd name="adj" fmla="val 12002"/>
            </a:avLst>
          </a:prstGeom>
          <a:solidFill>
            <a:srgbClr val="F2EEEE"/>
          </a:solidFill>
          <a:ln/>
        </p:spPr>
      </p:sp>
      <p:sp>
        <p:nvSpPr>
          <p:cNvPr id="9" name="Shape 7"/>
          <p:cNvSpPr/>
          <p:nvPr/>
        </p:nvSpPr>
        <p:spPr>
          <a:xfrm>
            <a:off x="7443073" y="2259449"/>
            <a:ext cx="642461" cy="269319"/>
          </a:xfrm>
          <a:prstGeom prst="roundRect">
            <a:avLst>
              <a:gd name="adj" fmla="val 12002"/>
            </a:avLst>
          </a:prstGeom>
          <a:solidFill>
            <a:srgbClr val="2150FE"/>
          </a:solidFill>
          <a:ln/>
        </p:spPr>
      </p:sp>
      <p:sp>
        <p:nvSpPr>
          <p:cNvPr id="10" name="Text 8"/>
          <p:cNvSpPr/>
          <p:nvPr/>
        </p:nvSpPr>
        <p:spPr>
          <a:xfrm>
            <a:off x="12915067" y="2259449"/>
            <a:ext cx="601861" cy="2693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21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12.1%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7443073" y="2789873"/>
            <a:ext cx="6393537" cy="336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32px — Standard English OCR (fails for Khmer)</a:t>
            </a:r>
            <a:endParaRPr lang="en-US" sz="1650" dirty="0"/>
          </a:p>
        </p:txBody>
      </p:sp>
      <p:sp>
        <p:nvSpPr>
          <p:cNvPr id="12" name="Shape 10"/>
          <p:cNvSpPr/>
          <p:nvPr/>
        </p:nvSpPr>
        <p:spPr>
          <a:xfrm>
            <a:off x="793790" y="3642955"/>
            <a:ext cx="5360075" cy="269319"/>
          </a:xfrm>
          <a:prstGeom prst="roundRect">
            <a:avLst>
              <a:gd name="adj" fmla="val 12002"/>
            </a:avLst>
          </a:prstGeom>
          <a:solidFill>
            <a:srgbClr val="F2EEEE"/>
          </a:solidFill>
          <a:ln/>
        </p:spPr>
      </p:sp>
      <p:sp>
        <p:nvSpPr>
          <p:cNvPr id="13" name="Shape 11"/>
          <p:cNvSpPr/>
          <p:nvPr/>
        </p:nvSpPr>
        <p:spPr>
          <a:xfrm>
            <a:off x="793790" y="3642955"/>
            <a:ext cx="310872" cy="269319"/>
          </a:xfrm>
          <a:prstGeom prst="roundRect">
            <a:avLst>
              <a:gd name="adj" fmla="val 12002"/>
            </a:avLst>
          </a:prstGeom>
          <a:solidFill>
            <a:srgbClr val="2150FE"/>
          </a:solidFill>
          <a:ln/>
        </p:spPr>
      </p:sp>
      <p:sp>
        <p:nvSpPr>
          <p:cNvPr id="14" name="Text 12"/>
          <p:cNvSpPr/>
          <p:nvPr/>
        </p:nvSpPr>
        <p:spPr>
          <a:xfrm>
            <a:off x="6315432" y="3642955"/>
            <a:ext cx="552093" cy="2693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21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5.8%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793790" y="4173379"/>
            <a:ext cx="6393418" cy="336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48px — Improving but insufficient</a:t>
            </a:r>
            <a:endParaRPr lang="en-US" sz="1650" dirty="0"/>
          </a:p>
        </p:txBody>
      </p:sp>
      <p:sp>
        <p:nvSpPr>
          <p:cNvPr id="16" name="Shape 14"/>
          <p:cNvSpPr/>
          <p:nvPr/>
        </p:nvSpPr>
        <p:spPr>
          <a:xfrm>
            <a:off x="7443073" y="3642955"/>
            <a:ext cx="5412462" cy="269319"/>
          </a:xfrm>
          <a:prstGeom prst="roundRect">
            <a:avLst>
              <a:gd name="adj" fmla="val 12002"/>
            </a:avLst>
          </a:prstGeom>
          <a:solidFill>
            <a:srgbClr val="F2EEEE"/>
          </a:solidFill>
          <a:ln/>
        </p:spPr>
      </p:sp>
      <p:sp>
        <p:nvSpPr>
          <p:cNvPr id="17" name="Shape 15"/>
          <p:cNvSpPr/>
          <p:nvPr/>
        </p:nvSpPr>
        <p:spPr>
          <a:xfrm>
            <a:off x="7443073" y="3642955"/>
            <a:ext cx="167759" cy="269319"/>
          </a:xfrm>
          <a:prstGeom prst="roundRect">
            <a:avLst>
              <a:gd name="adj" fmla="val 19267"/>
            </a:avLst>
          </a:prstGeom>
          <a:solidFill>
            <a:srgbClr val="2150FE"/>
          </a:solidFill>
          <a:ln/>
        </p:spPr>
      </p:sp>
      <p:sp>
        <p:nvSpPr>
          <p:cNvPr id="18" name="Text 16"/>
          <p:cNvSpPr/>
          <p:nvPr/>
        </p:nvSpPr>
        <p:spPr>
          <a:xfrm>
            <a:off x="13017103" y="3642955"/>
            <a:ext cx="499824" cy="2693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21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3.1%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7443073" y="4173379"/>
            <a:ext cx="6393537" cy="336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64px ★ — Sweet spot (chosen)</a:t>
            </a:r>
            <a:endParaRPr lang="en-US" sz="1650" dirty="0"/>
          </a:p>
        </p:txBody>
      </p:sp>
      <p:sp>
        <p:nvSpPr>
          <p:cNvPr id="20" name="Shape 18"/>
          <p:cNvSpPr/>
          <p:nvPr/>
        </p:nvSpPr>
        <p:spPr>
          <a:xfrm>
            <a:off x="793790" y="5026462"/>
            <a:ext cx="5356146" cy="269319"/>
          </a:xfrm>
          <a:prstGeom prst="roundRect">
            <a:avLst>
              <a:gd name="adj" fmla="val 12002"/>
            </a:avLst>
          </a:prstGeom>
          <a:solidFill>
            <a:srgbClr val="F2EEEE"/>
          </a:solidFill>
          <a:ln/>
        </p:spPr>
      </p:sp>
      <p:sp>
        <p:nvSpPr>
          <p:cNvPr id="21" name="Shape 19"/>
          <p:cNvSpPr/>
          <p:nvPr/>
        </p:nvSpPr>
        <p:spPr>
          <a:xfrm>
            <a:off x="793790" y="5026462"/>
            <a:ext cx="160615" cy="269319"/>
          </a:xfrm>
          <a:prstGeom prst="roundRect">
            <a:avLst>
              <a:gd name="adj" fmla="val 20124"/>
            </a:avLst>
          </a:prstGeom>
          <a:solidFill>
            <a:srgbClr val="2150FE"/>
          </a:solidFill>
          <a:ln/>
        </p:spPr>
      </p:sp>
      <p:sp>
        <p:nvSpPr>
          <p:cNvPr id="22" name="Text 20"/>
          <p:cNvSpPr/>
          <p:nvPr/>
        </p:nvSpPr>
        <p:spPr>
          <a:xfrm>
            <a:off x="6311503" y="5026462"/>
            <a:ext cx="556022" cy="2693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21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3.0%</a:t>
            </a:r>
            <a:endParaRPr lang="en-US" sz="2100" dirty="0"/>
          </a:p>
        </p:txBody>
      </p:sp>
      <p:sp>
        <p:nvSpPr>
          <p:cNvPr id="23" name="Text 21"/>
          <p:cNvSpPr/>
          <p:nvPr/>
        </p:nvSpPr>
        <p:spPr>
          <a:xfrm>
            <a:off x="793790" y="5556885"/>
            <a:ext cx="6393418" cy="336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80px — No gain vs 64px</a:t>
            </a:r>
            <a:endParaRPr lang="en-US" sz="1650" dirty="0"/>
          </a:p>
        </p:txBody>
      </p:sp>
      <p:sp>
        <p:nvSpPr>
          <p:cNvPr id="24" name="Shape 22"/>
          <p:cNvSpPr/>
          <p:nvPr/>
        </p:nvSpPr>
        <p:spPr>
          <a:xfrm>
            <a:off x="7443073" y="5026462"/>
            <a:ext cx="5356265" cy="269319"/>
          </a:xfrm>
          <a:prstGeom prst="roundRect">
            <a:avLst>
              <a:gd name="adj" fmla="val 12002"/>
            </a:avLst>
          </a:prstGeom>
          <a:solidFill>
            <a:srgbClr val="F2EEEE"/>
          </a:solidFill>
          <a:ln/>
        </p:spPr>
      </p:sp>
      <p:sp>
        <p:nvSpPr>
          <p:cNvPr id="25" name="Shape 23"/>
          <p:cNvSpPr/>
          <p:nvPr/>
        </p:nvSpPr>
        <p:spPr>
          <a:xfrm>
            <a:off x="7443073" y="5026462"/>
            <a:ext cx="160615" cy="269319"/>
          </a:xfrm>
          <a:prstGeom prst="roundRect">
            <a:avLst>
              <a:gd name="adj" fmla="val 20124"/>
            </a:avLst>
          </a:prstGeom>
          <a:solidFill>
            <a:srgbClr val="2150FE"/>
          </a:solidFill>
          <a:ln/>
        </p:spPr>
      </p:sp>
      <p:sp>
        <p:nvSpPr>
          <p:cNvPr id="26" name="Text 24"/>
          <p:cNvSpPr/>
          <p:nvPr/>
        </p:nvSpPr>
        <p:spPr>
          <a:xfrm>
            <a:off x="12960906" y="5026462"/>
            <a:ext cx="556022" cy="2693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21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3.0%</a:t>
            </a:r>
            <a:endParaRPr lang="en-US" sz="2100" dirty="0"/>
          </a:p>
        </p:txBody>
      </p:sp>
      <p:sp>
        <p:nvSpPr>
          <p:cNvPr id="27" name="Text 25"/>
          <p:cNvSpPr/>
          <p:nvPr/>
        </p:nvSpPr>
        <p:spPr>
          <a:xfrm>
            <a:off x="7443073" y="5556885"/>
            <a:ext cx="6393537" cy="336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96px — No gain + 2× memory cost</a:t>
            </a:r>
            <a:endParaRPr lang="en-US" sz="1650" dirty="0"/>
          </a:p>
        </p:txBody>
      </p:sp>
      <p:sp>
        <p:nvSpPr>
          <p:cNvPr id="28" name="Text 26"/>
          <p:cNvSpPr/>
          <p:nvPr/>
        </p:nvSpPr>
        <p:spPr>
          <a:xfrm>
            <a:off x="1116925" y="6353532"/>
            <a:ext cx="12719685" cy="1008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Sweet Spot = 64px — Going from 32→64px cuts error by 74%. Going beyond 64px gives ZERO improvement but doubles memory cost. This explains much of why previous Khmer OCR systems failed — they used 32px, simply too short for a script with 5 vertical rows.</a:t>
            </a:r>
            <a:endParaRPr lang="en-US" sz="1650" dirty="0"/>
          </a:p>
        </p:txBody>
      </p:sp>
      <p:sp>
        <p:nvSpPr>
          <p:cNvPr id="29" name="Shape 27"/>
          <p:cNvSpPr/>
          <p:nvPr/>
        </p:nvSpPr>
        <p:spPr>
          <a:xfrm>
            <a:off x="793790" y="6123265"/>
            <a:ext cx="30480" cy="1468874"/>
          </a:xfrm>
          <a:prstGeom prst="rect">
            <a:avLst/>
          </a:prstGeom>
          <a:solidFill>
            <a:srgbClr val="2150FE"/>
          </a:solidFill>
          <a:ln/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4737" y="677942"/>
            <a:ext cx="4439841" cy="4043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500" b="1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Diagram 8 — Results Dashboard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754737" y="1312902"/>
            <a:ext cx="13120926" cy="2215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Performance on all real-world Khmer test sets. Lower CER = better.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754737" y="1779389"/>
            <a:ext cx="2469594" cy="2526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5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Khmer ID Card — Name Field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754737" y="2242542"/>
            <a:ext cx="4061341" cy="202168"/>
          </a:xfrm>
          <a:prstGeom prst="roundRect">
            <a:avLst>
              <a:gd name="adj" fmla="val 12000"/>
            </a:avLst>
          </a:prstGeom>
          <a:solidFill>
            <a:srgbClr val="F2EEEE"/>
          </a:solidFill>
          <a:ln/>
        </p:spPr>
      </p:sp>
      <p:sp>
        <p:nvSpPr>
          <p:cNvPr id="6" name="Shape 4"/>
          <p:cNvSpPr/>
          <p:nvPr/>
        </p:nvSpPr>
        <p:spPr>
          <a:xfrm>
            <a:off x="754737" y="2242542"/>
            <a:ext cx="1128236" cy="202168"/>
          </a:xfrm>
          <a:prstGeom prst="roundRect">
            <a:avLst>
              <a:gd name="adj" fmla="val 12000"/>
            </a:avLst>
          </a:prstGeom>
          <a:solidFill>
            <a:srgbClr val="2150FE"/>
          </a:solidFill>
          <a:ln/>
        </p:spPr>
      </p:sp>
      <p:sp>
        <p:nvSpPr>
          <p:cNvPr id="7" name="Text 5"/>
          <p:cNvSpPr/>
          <p:nvPr/>
        </p:nvSpPr>
        <p:spPr>
          <a:xfrm>
            <a:off x="4937284" y="2242542"/>
            <a:ext cx="589836" cy="2021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5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27.78%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754737" y="2611993"/>
            <a:ext cx="6363176" cy="2215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Tesseract 5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54737" y="3145036"/>
            <a:ext cx="4070271" cy="202168"/>
          </a:xfrm>
          <a:prstGeom prst="roundRect">
            <a:avLst>
              <a:gd name="adj" fmla="val 12000"/>
            </a:avLst>
          </a:prstGeom>
          <a:solidFill>
            <a:srgbClr val="F2EEEE"/>
          </a:solidFill>
          <a:ln/>
        </p:spPr>
      </p:sp>
      <p:sp>
        <p:nvSpPr>
          <p:cNvPr id="10" name="Shape 8"/>
          <p:cNvSpPr/>
          <p:nvPr/>
        </p:nvSpPr>
        <p:spPr>
          <a:xfrm>
            <a:off x="754737" y="3145036"/>
            <a:ext cx="1840111" cy="202168"/>
          </a:xfrm>
          <a:prstGeom prst="roundRect">
            <a:avLst>
              <a:gd name="adj" fmla="val 12000"/>
            </a:avLst>
          </a:prstGeom>
          <a:solidFill>
            <a:srgbClr val="2150FE"/>
          </a:solidFill>
          <a:ln/>
        </p:spPr>
      </p:sp>
      <p:sp>
        <p:nvSpPr>
          <p:cNvPr id="11" name="Text 9"/>
          <p:cNvSpPr/>
          <p:nvPr/>
        </p:nvSpPr>
        <p:spPr>
          <a:xfrm>
            <a:off x="4946213" y="3145036"/>
            <a:ext cx="580906" cy="2021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5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45.21%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754737" y="3514487"/>
            <a:ext cx="6363176" cy="2215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Google Vision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54737" y="4047530"/>
            <a:ext cx="4067889" cy="202168"/>
          </a:xfrm>
          <a:prstGeom prst="roundRect">
            <a:avLst>
              <a:gd name="adj" fmla="val 12000"/>
            </a:avLst>
          </a:prstGeom>
          <a:solidFill>
            <a:srgbClr val="F2EEEE"/>
          </a:solidFill>
          <a:ln/>
        </p:spPr>
      </p:sp>
      <p:sp>
        <p:nvSpPr>
          <p:cNvPr id="14" name="Shape 12"/>
          <p:cNvSpPr/>
          <p:nvPr/>
        </p:nvSpPr>
        <p:spPr>
          <a:xfrm>
            <a:off x="754737" y="4047530"/>
            <a:ext cx="868085" cy="202168"/>
          </a:xfrm>
          <a:prstGeom prst="roundRect">
            <a:avLst>
              <a:gd name="adj" fmla="val 12000"/>
            </a:avLst>
          </a:prstGeom>
          <a:solidFill>
            <a:srgbClr val="2150FE"/>
          </a:solidFill>
          <a:ln/>
        </p:spPr>
      </p:sp>
      <p:sp>
        <p:nvSpPr>
          <p:cNvPr id="15" name="Text 13"/>
          <p:cNvSpPr/>
          <p:nvPr/>
        </p:nvSpPr>
        <p:spPr>
          <a:xfrm>
            <a:off x="4943832" y="4047530"/>
            <a:ext cx="583287" cy="2021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5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21.34%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754737" y="4416981"/>
            <a:ext cx="6363176" cy="2215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PARSeq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754737" y="4950023"/>
            <a:ext cx="3873937" cy="202168"/>
          </a:xfrm>
          <a:prstGeom prst="roundRect">
            <a:avLst>
              <a:gd name="adj" fmla="val 12000"/>
            </a:avLst>
          </a:prstGeom>
          <a:solidFill>
            <a:srgbClr val="F2EEEE"/>
          </a:solidFill>
          <a:ln/>
        </p:spPr>
      </p:sp>
      <p:sp>
        <p:nvSpPr>
          <p:cNvPr id="18" name="Shape 16"/>
          <p:cNvSpPr/>
          <p:nvPr/>
        </p:nvSpPr>
        <p:spPr>
          <a:xfrm>
            <a:off x="754737" y="4950023"/>
            <a:ext cx="116205" cy="202168"/>
          </a:xfrm>
          <a:prstGeom prst="roundRect">
            <a:avLst>
              <a:gd name="adj" fmla="val 20877"/>
            </a:avLst>
          </a:prstGeom>
          <a:solidFill>
            <a:srgbClr val="2150FE"/>
          </a:solidFill>
          <a:ln/>
        </p:spPr>
      </p:sp>
      <p:sp>
        <p:nvSpPr>
          <p:cNvPr id="19" name="Text 17"/>
          <p:cNvSpPr/>
          <p:nvPr/>
        </p:nvSpPr>
        <p:spPr>
          <a:xfrm>
            <a:off x="4749879" y="4950023"/>
            <a:ext cx="777240" cy="2021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5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3.00% ★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754737" y="5319474"/>
            <a:ext cx="6363176" cy="2215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This Paper — 9× better than Tesseract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7520107" y="1779389"/>
            <a:ext cx="2641521" cy="2526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5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Khmer ID Card — Address Field</a:t>
            </a:r>
            <a:endParaRPr lang="en-US" sz="1550" dirty="0"/>
          </a:p>
        </p:txBody>
      </p:sp>
      <p:sp>
        <p:nvSpPr>
          <p:cNvPr id="22" name="Shape 20"/>
          <p:cNvSpPr/>
          <p:nvPr/>
        </p:nvSpPr>
        <p:spPr>
          <a:xfrm>
            <a:off x="7520107" y="2242542"/>
            <a:ext cx="4176951" cy="202168"/>
          </a:xfrm>
          <a:prstGeom prst="roundRect">
            <a:avLst>
              <a:gd name="adj" fmla="val 12000"/>
            </a:avLst>
          </a:prstGeom>
          <a:solidFill>
            <a:srgbClr val="F2EEEE"/>
          </a:solidFill>
          <a:ln/>
        </p:spPr>
      </p:sp>
      <p:sp>
        <p:nvSpPr>
          <p:cNvPr id="23" name="Shape 21"/>
          <p:cNvSpPr/>
          <p:nvPr/>
        </p:nvSpPr>
        <p:spPr>
          <a:xfrm>
            <a:off x="7520107" y="2242542"/>
            <a:ext cx="522089" cy="202168"/>
          </a:xfrm>
          <a:prstGeom prst="roundRect">
            <a:avLst>
              <a:gd name="adj" fmla="val 12000"/>
            </a:avLst>
          </a:prstGeom>
          <a:solidFill>
            <a:srgbClr val="2150FE"/>
          </a:solidFill>
          <a:ln/>
        </p:spPr>
      </p:sp>
      <p:sp>
        <p:nvSpPr>
          <p:cNvPr id="24" name="Text 22"/>
          <p:cNvSpPr/>
          <p:nvPr/>
        </p:nvSpPr>
        <p:spPr>
          <a:xfrm>
            <a:off x="11818263" y="2242542"/>
            <a:ext cx="474226" cy="2021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5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12.5%</a:t>
            </a:r>
            <a:endParaRPr lang="en-US" sz="1550" dirty="0"/>
          </a:p>
        </p:txBody>
      </p:sp>
      <p:sp>
        <p:nvSpPr>
          <p:cNvPr id="25" name="Text 23"/>
          <p:cNvSpPr/>
          <p:nvPr/>
        </p:nvSpPr>
        <p:spPr>
          <a:xfrm>
            <a:off x="7520107" y="2611993"/>
            <a:ext cx="6363176" cy="2215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Tesseract 5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7520107" y="3145036"/>
            <a:ext cx="4140279" cy="202168"/>
          </a:xfrm>
          <a:prstGeom prst="roundRect">
            <a:avLst>
              <a:gd name="adj" fmla="val 12000"/>
            </a:avLst>
          </a:prstGeom>
          <a:solidFill>
            <a:srgbClr val="F2EEEE"/>
          </a:solidFill>
          <a:ln/>
        </p:spPr>
      </p:sp>
      <p:sp>
        <p:nvSpPr>
          <p:cNvPr id="27" name="Shape 25"/>
          <p:cNvSpPr/>
          <p:nvPr/>
        </p:nvSpPr>
        <p:spPr>
          <a:xfrm>
            <a:off x="7520107" y="3145036"/>
            <a:ext cx="408623" cy="202168"/>
          </a:xfrm>
          <a:prstGeom prst="roundRect">
            <a:avLst>
              <a:gd name="adj" fmla="val 12000"/>
            </a:avLst>
          </a:prstGeom>
          <a:solidFill>
            <a:srgbClr val="2150FE"/>
          </a:solidFill>
          <a:ln/>
        </p:spPr>
      </p:sp>
      <p:sp>
        <p:nvSpPr>
          <p:cNvPr id="28" name="Text 26"/>
          <p:cNvSpPr/>
          <p:nvPr/>
        </p:nvSpPr>
        <p:spPr>
          <a:xfrm>
            <a:off x="11781592" y="3145036"/>
            <a:ext cx="510897" cy="2021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5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9.87%</a:t>
            </a:r>
            <a:endParaRPr lang="en-US" sz="1550" dirty="0"/>
          </a:p>
        </p:txBody>
      </p:sp>
      <p:sp>
        <p:nvSpPr>
          <p:cNvPr id="29" name="Text 27"/>
          <p:cNvSpPr/>
          <p:nvPr/>
        </p:nvSpPr>
        <p:spPr>
          <a:xfrm>
            <a:off x="7520107" y="3514487"/>
            <a:ext cx="6363176" cy="2215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Google Vision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7520107" y="4047530"/>
            <a:ext cx="4066342" cy="202168"/>
          </a:xfrm>
          <a:prstGeom prst="roundRect">
            <a:avLst>
              <a:gd name="adj" fmla="val 12000"/>
            </a:avLst>
          </a:prstGeom>
          <a:solidFill>
            <a:srgbClr val="F2EEEE"/>
          </a:solidFill>
          <a:ln/>
        </p:spPr>
      </p:sp>
      <p:sp>
        <p:nvSpPr>
          <p:cNvPr id="31" name="Shape 29"/>
          <p:cNvSpPr/>
          <p:nvPr/>
        </p:nvSpPr>
        <p:spPr>
          <a:xfrm>
            <a:off x="7520107" y="4047530"/>
            <a:ext cx="682228" cy="202168"/>
          </a:xfrm>
          <a:prstGeom prst="roundRect">
            <a:avLst>
              <a:gd name="adj" fmla="val 12000"/>
            </a:avLst>
          </a:prstGeom>
          <a:solidFill>
            <a:srgbClr val="2150FE"/>
          </a:solidFill>
          <a:ln/>
        </p:spPr>
      </p:sp>
      <p:sp>
        <p:nvSpPr>
          <p:cNvPr id="32" name="Text 30"/>
          <p:cNvSpPr/>
          <p:nvPr/>
        </p:nvSpPr>
        <p:spPr>
          <a:xfrm>
            <a:off x="11707654" y="4047530"/>
            <a:ext cx="584835" cy="2021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5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16.78%</a:t>
            </a:r>
            <a:endParaRPr lang="en-US" sz="1550" dirty="0"/>
          </a:p>
        </p:txBody>
      </p:sp>
      <p:sp>
        <p:nvSpPr>
          <p:cNvPr id="33" name="Text 31"/>
          <p:cNvSpPr/>
          <p:nvPr/>
        </p:nvSpPr>
        <p:spPr>
          <a:xfrm>
            <a:off x="7520107" y="4416981"/>
            <a:ext cx="6363176" cy="2215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PARSeq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7520107" y="4950023"/>
            <a:ext cx="3897987" cy="202168"/>
          </a:xfrm>
          <a:prstGeom prst="roundRect">
            <a:avLst>
              <a:gd name="adj" fmla="val 12000"/>
            </a:avLst>
          </a:prstGeom>
          <a:solidFill>
            <a:srgbClr val="F2EEEE"/>
          </a:solidFill>
          <a:ln/>
        </p:spPr>
      </p:sp>
      <p:sp>
        <p:nvSpPr>
          <p:cNvPr id="35" name="Shape 33"/>
          <p:cNvSpPr/>
          <p:nvPr/>
        </p:nvSpPr>
        <p:spPr>
          <a:xfrm>
            <a:off x="7520107" y="4950023"/>
            <a:ext cx="264200" cy="202168"/>
          </a:xfrm>
          <a:prstGeom prst="roundRect">
            <a:avLst>
              <a:gd name="adj" fmla="val 12000"/>
            </a:avLst>
          </a:prstGeom>
          <a:solidFill>
            <a:srgbClr val="2150FE"/>
          </a:solidFill>
          <a:ln/>
        </p:spPr>
      </p:sp>
      <p:sp>
        <p:nvSpPr>
          <p:cNvPr id="36" name="Text 34"/>
          <p:cNvSpPr/>
          <p:nvPr/>
        </p:nvSpPr>
        <p:spPr>
          <a:xfrm>
            <a:off x="11539299" y="4950023"/>
            <a:ext cx="753189" cy="2021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5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6.78% ★</a:t>
            </a:r>
            <a:endParaRPr lang="en-US" sz="1550" dirty="0"/>
          </a:p>
        </p:txBody>
      </p:sp>
      <p:sp>
        <p:nvSpPr>
          <p:cNvPr id="37" name="Text 35"/>
          <p:cNvSpPr/>
          <p:nvPr/>
        </p:nvSpPr>
        <p:spPr>
          <a:xfrm>
            <a:off x="7520107" y="5319474"/>
            <a:ext cx="6363176" cy="2215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This Paper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754737" y="5843588"/>
            <a:ext cx="2021681" cy="2526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5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KHOB Digital Books</a:t>
            </a:r>
            <a:endParaRPr lang="en-US" sz="1550" dirty="0"/>
          </a:p>
        </p:txBody>
      </p:sp>
      <p:sp>
        <p:nvSpPr>
          <p:cNvPr id="39" name="Shape 37"/>
          <p:cNvSpPr/>
          <p:nvPr/>
        </p:nvSpPr>
        <p:spPr>
          <a:xfrm>
            <a:off x="754737" y="6349960"/>
            <a:ext cx="2610207" cy="202168"/>
          </a:xfrm>
          <a:prstGeom prst="roundRect">
            <a:avLst>
              <a:gd name="adj" fmla="val 12000"/>
            </a:avLst>
          </a:prstGeom>
          <a:solidFill>
            <a:srgbClr val="F2EEEE"/>
          </a:solidFill>
          <a:ln/>
        </p:spPr>
      </p:sp>
      <p:sp>
        <p:nvSpPr>
          <p:cNvPr id="40" name="Shape 38"/>
          <p:cNvSpPr/>
          <p:nvPr/>
        </p:nvSpPr>
        <p:spPr>
          <a:xfrm>
            <a:off x="754737" y="6349960"/>
            <a:ext cx="814268" cy="202168"/>
          </a:xfrm>
          <a:prstGeom prst="roundRect">
            <a:avLst>
              <a:gd name="adj" fmla="val 12000"/>
            </a:avLst>
          </a:prstGeom>
          <a:solidFill>
            <a:srgbClr val="2150FE"/>
          </a:solidFill>
          <a:ln/>
        </p:spPr>
      </p:sp>
      <p:sp>
        <p:nvSpPr>
          <p:cNvPr id="41" name="Text 39"/>
          <p:cNvSpPr/>
          <p:nvPr/>
        </p:nvSpPr>
        <p:spPr>
          <a:xfrm>
            <a:off x="3486150" y="6349960"/>
            <a:ext cx="476726" cy="2021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5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31.2%</a:t>
            </a:r>
            <a:endParaRPr lang="en-US" sz="1550" dirty="0"/>
          </a:p>
        </p:txBody>
      </p:sp>
      <p:sp>
        <p:nvSpPr>
          <p:cNvPr id="42" name="Text 40"/>
          <p:cNvSpPr/>
          <p:nvPr/>
        </p:nvSpPr>
        <p:spPr>
          <a:xfrm>
            <a:off x="754737" y="6719411"/>
            <a:ext cx="4277558" cy="2215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Tesseract 5</a:t>
            </a:r>
            <a:endParaRPr lang="en-US" sz="1250" dirty="0"/>
          </a:p>
        </p:txBody>
      </p:sp>
      <p:sp>
        <p:nvSpPr>
          <p:cNvPr id="43" name="Shape 41"/>
          <p:cNvSpPr/>
          <p:nvPr/>
        </p:nvSpPr>
        <p:spPr>
          <a:xfrm>
            <a:off x="5176361" y="6349960"/>
            <a:ext cx="2659261" cy="202168"/>
          </a:xfrm>
          <a:prstGeom prst="roundRect">
            <a:avLst>
              <a:gd name="adj" fmla="val 12000"/>
            </a:avLst>
          </a:prstGeom>
          <a:solidFill>
            <a:srgbClr val="F2EEEE"/>
          </a:solidFill>
          <a:ln/>
        </p:spPr>
      </p:sp>
      <p:sp>
        <p:nvSpPr>
          <p:cNvPr id="44" name="Shape 42"/>
          <p:cNvSpPr/>
          <p:nvPr/>
        </p:nvSpPr>
        <p:spPr>
          <a:xfrm>
            <a:off x="5176361" y="6349960"/>
            <a:ext cx="398859" cy="202168"/>
          </a:xfrm>
          <a:prstGeom prst="roundRect">
            <a:avLst>
              <a:gd name="adj" fmla="val 12000"/>
            </a:avLst>
          </a:prstGeom>
          <a:solidFill>
            <a:srgbClr val="2150FE"/>
          </a:solidFill>
          <a:ln/>
        </p:spPr>
      </p:sp>
      <p:sp>
        <p:nvSpPr>
          <p:cNvPr id="45" name="Text 43"/>
          <p:cNvSpPr/>
          <p:nvPr/>
        </p:nvSpPr>
        <p:spPr>
          <a:xfrm>
            <a:off x="7956828" y="6349960"/>
            <a:ext cx="427673" cy="2021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5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~15%</a:t>
            </a:r>
            <a:endParaRPr lang="en-US" sz="1550" dirty="0"/>
          </a:p>
        </p:txBody>
      </p:sp>
      <p:sp>
        <p:nvSpPr>
          <p:cNvPr id="46" name="Text 44"/>
          <p:cNvSpPr/>
          <p:nvPr/>
        </p:nvSpPr>
        <p:spPr>
          <a:xfrm>
            <a:off x="5176361" y="6719411"/>
            <a:ext cx="4277558" cy="2215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TrOCR</a:t>
            </a:r>
            <a:endParaRPr lang="en-US" sz="1250" dirty="0"/>
          </a:p>
        </p:txBody>
      </p:sp>
      <p:sp>
        <p:nvSpPr>
          <p:cNvPr id="47" name="Shape 45"/>
          <p:cNvSpPr/>
          <p:nvPr/>
        </p:nvSpPr>
        <p:spPr>
          <a:xfrm>
            <a:off x="9597985" y="6349960"/>
            <a:ext cx="2487573" cy="202168"/>
          </a:xfrm>
          <a:prstGeom prst="roundRect">
            <a:avLst>
              <a:gd name="adj" fmla="val 12000"/>
            </a:avLst>
          </a:prstGeom>
          <a:solidFill>
            <a:srgbClr val="F2EEEE"/>
          </a:solidFill>
          <a:ln/>
        </p:spPr>
      </p:sp>
      <p:sp>
        <p:nvSpPr>
          <p:cNvPr id="48" name="Text 46"/>
          <p:cNvSpPr/>
          <p:nvPr/>
        </p:nvSpPr>
        <p:spPr>
          <a:xfrm>
            <a:off x="12206764" y="6349960"/>
            <a:ext cx="599480" cy="2021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5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Best ★</a:t>
            </a:r>
            <a:endParaRPr lang="en-US" sz="1550" dirty="0"/>
          </a:p>
        </p:txBody>
      </p:sp>
      <p:sp>
        <p:nvSpPr>
          <p:cNvPr id="49" name="Text 47"/>
          <p:cNvSpPr/>
          <p:nvPr/>
        </p:nvSpPr>
        <p:spPr>
          <a:xfrm>
            <a:off x="9597985" y="6719411"/>
            <a:ext cx="4277678" cy="2215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This Paper — state-of-the-art</a:t>
            </a:r>
            <a:endParaRPr lang="en-US" sz="1250" dirty="0"/>
          </a:p>
        </p:txBody>
      </p:sp>
      <p:sp>
        <p:nvSpPr>
          <p:cNvPr id="50" name="Text 48"/>
          <p:cNvSpPr/>
          <p:nvPr/>
        </p:nvSpPr>
        <p:spPr>
          <a:xfrm>
            <a:off x="997268" y="7200305"/>
            <a:ext cx="12878395" cy="2215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Key Result: 3.00% CER on ID cards — 9× better than Tesseract (27.78%). 2.46% CER on ancient manuscripts — 60% better than previous best.</a:t>
            </a:r>
            <a:endParaRPr lang="en-US" sz="1250" dirty="0"/>
          </a:p>
        </p:txBody>
      </p:sp>
      <p:sp>
        <p:nvSpPr>
          <p:cNvPr id="51" name="Shape 49"/>
          <p:cNvSpPr/>
          <p:nvPr/>
        </p:nvSpPr>
        <p:spPr>
          <a:xfrm>
            <a:off x="754737" y="7070646"/>
            <a:ext cx="22860" cy="480893"/>
          </a:xfrm>
          <a:prstGeom prst="rect">
            <a:avLst/>
          </a:prstGeom>
          <a:solidFill>
            <a:srgbClr val="2150FE"/>
          </a:solidFill>
          <a:ln/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65334"/>
            <a:ext cx="9324142" cy="4819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750"/>
              </a:lnSpc>
              <a:buNone/>
            </a:pPr>
            <a:r>
              <a:rPr lang="en-US" sz="3000" b="1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Diagram 9 — Chunking Impact: CER vs. Text Line Length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93790" y="1574959"/>
            <a:ext cx="13042821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Without chunking, errors explode on long lines. With chunking, errors stay flat.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793790" y="2044541"/>
            <a:ext cx="4238387" cy="1355527"/>
          </a:xfrm>
          <a:prstGeom prst="roundRect">
            <a:avLst>
              <a:gd name="adj" fmla="val 2134"/>
            </a:avLst>
          </a:prstGeom>
          <a:solidFill>
            <a:srgbClr val="F2EEEE"/>
          </a:solidFill>
          <a:ln/>
        </p:spPr>
      </p:sp>
      <p:sp>
        <p:nvSpPr>
          <p:cNvPr id="5" name="Text 3"/>
          <p:cNvSpPr/>
          <p:nvPr/>
        </p:nvSpPr>
        <p:spPr>
          <a:xfrm>
            <a:off x="986552" y="2237303"/>
            <a:ext cx="2409944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8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1–10 chars</a:t>
            </a:r>
            <a:endParaRPr lang="en-US" sz="1850" dirty="0"/>
          </a:p>
        </p:txBody>
      </p:sp>
      <p:sp>
        <p:nvSpPr>
          <p:cNvPr id="6" name="Text 4"/>
          <p:cNvSpPr/>
          <p:nvPr/>
        </p:nvSpPr>
        <p:spPr>
          <a:xfrm>
            <a:off x="986552" y="2636758"/>
            <a:ext cx="3852863" cy="5705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Without chunking: 2.8% · With chunking: 2.7% · Minimal difference on short lines.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196007" y="2044541"/>
            <a:ext cx="4238387" cy="1355527"/>
          </a:xfrm>
          <a:prstGeom prst="roundRect">
            <a:avLst>
              <a:gd name="adj" fmla="val 2134"/>
            </a:avLst>
          </a:prstGeom>
          <a:solidFill>
            <a:srgbClr val="F2EEEE"/>
          </a:solidFill>
          <a:ln/>
        </p:spPr>
      </p:sp>
      <p:sp>
        <p:nvSpPr>
          <p:cNvPr id="8" name="Text 6"/>
          <p:cNvSpPr/>
          <p:nvPr/>
        </p:nvSpPr>
        <p:spPr>
          <a:xfrm>
            <a:off x="5388769" y="2237303"/>
            <a:ext cx="2409944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8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11–30 chars</a:t>
            </a:r>
            <a:endParaRPr lang="en-US" sz="1850" dirty="0"/>
          </a:p>
        </p:txBody>
      </p:sp>
      <p:sp>
        <p:nvSpPr>
          <p:cNvPr id="9" name="Text 7"/>
          <p:cNvSpPr/>
          <p:nvPr/>
        </p:nvSpPr>
        <p:spPr>
          <a:xfrm>
            <a:off x="5388769" y="2636758"/>
            <a:ext cx="3852863" cy="5705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Without chunking: 3.1% · With chunking: 3.0% · Still minimal difference.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9598223" y="2044541"/>
            <a:ext cx="4238387" cy="1355527"/>
          </a:xfrm>
          <a:prstGeom prst="roundRect">
            <a:avLst>
              <a:gd name="adj" fmla="val 2134"/>
            </a:avLst>
          </a:prstGeom>
          <a:solidFill>
            <a:srgbClr val="F2EEEE"/>
          </a:solidFill>
          <a:ln/>
        </p:spPr>
      </p:sp>
      <p:sp>
        <p:nvSpPr>
          <p:cNvPr id="11" name="Text 9"/>
          <p:cNvSpPr/>
          <p:nvPr/>
        </p:nvSpPr>
        <p:spPr>
          <a:xfrm>
            <a:off x="9790986" y="2237303"/>
            <a:ext cx="2409944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8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31–60 chars</a:t>
            </a:r>
            <a:endParaRPr lang="en-US" sz="1850" dirty="0"/>
          </a:p>
        </p:txBody>
      </p:sp>
      <p:sp>
        <p:nvSpPr>
          <p:cNvPr id="12" name="Text 10"/>
          <p:cNvSpPr/>
          <p:nvPr/>
        </p:nvSpPr>
        <p:spPr>
          <a:xfrm>
            <a:off x="9790986" y="2636758"/>
            <a:ext cx="3852863" cy="5705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Without chunking: 5.9% · With chunking: 3.2% · 1.8× better with chunking.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793790" y="3563898"/>
            <a:ext cx="6439495" cy="1355527"/>
          </a:xfrm>
          <a:prstGeom prst="roundRect">
            <a:avLst>
              <a:gd name="adj" fmla="val 2134"/>
            </a:avLst>
          </a:prstGeom>
          <a:solidFill>
            <a:srgbClr val="F2EEEE"/>
          </a:solidFill>
          <a:ln/>
        </p:spPr>
      </p:sp>
      <p:sp>
        <p:nvSpPr>
          <p:cNvPr id="14" name="Text 12"/>
          <p:cNvSpPr/>
          <p:nvPr/>
        </p:nvSpPr>
        <p:spPr>
          <a:xfrm>
            <a:off x="986552" y="3756660"/>
            <a:ext cx="2409944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8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61–100 chars</a:t>
            </a:r>
            <a:endParaRPr lang="en-US" sz="1850" dirty="0"/>
          </a:p>
        </p:txBody>
      </p:sp>
      <p:sp>
        <p:nvSpPr>
          <p:cNvPr id="15" name="Text 13"/>
          <p:cNvSpPr/>
          <p:nvPr/>
        </p:nvSpPr>
        <p:spPr>
          <a:xfrm>
            <a:off x="986552" y="4156115"/>
            <a:ext cx="6053971" cy="5705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Without chunking: 9.4% · With chunking: 3.5% · 2.7× better with chunking.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7397115" y="3563898"/>
            <a:ext cx="6439495" cy="1355527"/>
          </a:xfrm>
          <a:prstGeom prst="roundRect">
            <a:avLst>
              <a:gd name="adj" fmla="val 2134"/>
            </a:avLst>
          </a:prstGeom>
          <a:solidFill>
            <a:srgbClr val="F2EEEE"/>
          </a:solidFill>
          <a:ln/>
        </p:spPr>
      </p:sp>
      <p:sp>
        <p:nvSpPr>
          <p:cNvPr id="17" name="Text 15"/>
          <p:cNvSpPr/>
          <p:nvPr/>
        </p:nvSpPr>
        <p:spPr>
          <a:xfrm>
            <a:off x="7589877" y="3756660"/>
            <a:ext cx="2409944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8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100+ chars</a:t>
            </a:r>
            <a:endParaRPr lang="en-US" sz="1850" dirty="0"/>
          </a:p>
        </p:txBody>
      </p:sp>
      <p:sp>
        <p:nvSpPr>
          <p:cNvPr id="18" name="Text 16"/>
          <p:cNvSpPr/>
          <p:nvPr/>
        </p:nvSpPr>
        <p:spPr>
          <a:xfrm>
            <a:off x="7589877" y="4156115"/>
            <a:ext cx="6053971" cy="5705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Without chunking: 14.7% · With chunking: 4.1% · 3.6× better — critical for real documents.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109663" y="5200055"/>
            <a:ext cx="3579257" cy="6361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000"/>
              </a:lnSpc>
              <a:buNone/>
            </a:pPr>
            <a:r>
              <a:rPr lang="en-US" sz="50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5×</a:t>
            </a:r>
            <a:endParaRPr lang="en-US" sz="5000" dirty="0"/>
          </a:p>
        </p:txBody>
      </p:sp>
      <p:sp>
        <p:nvSpPr>
          <p:cNvPr id="20" name="Text 18"/>
          <p:cNvSpPr/>
          <p:nvPr/>
        </p:nvSpPr>
        <p:spPr>
          <a:xfrm>
            <a:off x="793790" y="6055400"/>
            <a:ext cx="4211003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Error increase without chunking (2.8% → 14.7%)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5525453" y="5200055"/>
            <a:ext cx="3579376" cy="6361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000"/>
              </a:lnSpc>
              <a:buNone/>
            </a:pPr>
            <a:r>
              <a:rPr lang="en-US" sz="50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1.5×</a:t>
            </a:r>
            <a:endParaRPr lang="en-US" sz="5000" dirty="0"/>
          </a:p>
        </p:txBody>
      </p:sp>
      <p:sp>
        <p:nvSpPr>
          <p:cNvPr id="22" name="Text 20"/>
          <p:cNvSpPr/>
          <p:nvPr/>
        </p:nvSpPr>
        <p:spPr>
          <a:xfrm>
            <a:off x="5209580" y="6055400"/>
            <a:ext cx="4211122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Error increase with chunking (2.7% → 4.1%)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9941362" y="5200055"/>
            <a:ext cx="3579257" cy="6361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000"/>
              </a:lnSpc>
              <a:buNone/>
            </a:pPr>
            <a:r>
              <a:rPr lang="en-US" sz="50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3.6×</a:t>
            </a:r>
            <a:endParaRPr lang="en-US" sz="5000" dirty="0"/>
          </a:p>
        </p:txBody>
      </p:sp>
      <p:sp>
        <p:nvSpPr>
          <p:cNvPr id="24" name="Text 22"/>
          <p:cNvSpPr/>
          <p:nvPr/>
        </p:nvSpPr>
        <p:spPr>
          <a:xfrm>
            <a:off x="9625489" y="6055400"/>
            <a:ext cx="4211003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Max improvement on 100+ char lines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1082993" y="6709291"/>
            <a:ext cx="12753618" cy="5705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Without chunking: error explodes from 2.8% → 14.7% as lines get longer (5× worse). With chunking: stays stable 2.7% → 4.1% (only 1.5× increase). Essential for processing real documents!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793790" y="6524982"/>
            <a:ext cx="22860" cy="939165"/>
          </a:xfrm>
          <a:prstGeom prst="rect">
            <a:avLst/>
          </a:prstGeom>
          <a:solidFill>
            <a:srgbClr val="2150FE"/>
          </a:solidFill>
          <a:ln/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41628"/>
            <a:ext cx="8055769" cy="4819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750"/>
              </a:lnSpc>
              <a:buNone/>
            </a:pPr>
            <a:r>
              <a:rPr lang="en-US" sz="3000" b="1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Diagram 10 — Cross-Language Transfer Learning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93790" y="1451253"/>
            <a:ext cx="13042821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Khmer pre-trained model fine-tuned on 5 other scripts with only 100K images each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793790" y="1920835"/>
            <a:ext cx="13042821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Pre-trained on 2.8M Khmer images → Fine-tuned with only 100K images per language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93790" y="2390418"/>
            <a:ext cx="4238387" cy="2097762"/>
          </a:xfrm>
          <a:prstGeom prst="roundRect">
            <a:avLst>
              <a:gd name="adj" fmla="val 1379"/>
            </a:avLst>
          </a:prstGeom>
          <a:solidFill>
            <a:srgbClr val="F2EEEE"/>
          </a:solidFill>
          <a:ln/>
        </p:spPr>
      </p:sp>
      <p:sp>
        <p:nvSpPr>
          <p:cNvPr id="6" name="Shape 4"/>
          <p:cNvSpPr/>
          <p:nvPr/>
        </p:nvSpPr>
        <p:spPr>
          <a:xfrm>
            <a:off x="986552" y="2583180"/>
            <a:ext cx="578406" cy="578406"/>
          </a:xfrm>
          <a:prstGeom prst="roundRect">
            <a:avLst>
              <a:gd name="adj" fmla="val 15807384"/>
            </a:avLst>
          </a:prstGeom>
          <a:solidFill>
            <a:srgbClr val="2150FE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45619" y="2742248"/>
            <a:ext cx="260271" cy="26027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86552" y="3325416"/>
            <a:ext cx="2765703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8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Lao — −55% CER Reduction</a:t>
            </a:r>
            <a:endParaRPr lang="en-US" sz="1850" dirty="0"/>
          </a:p>
        </p:txBody>
      </p:sp>
      <p:sp>
        <p:nvSpPr>
          <p:cNvPr id="9" name="Text 6"/>
          <p:cNvSpPr/>
          <p:nvPr/>
        </p:nvSpPr>
        <p:spPr>
          <a:xfrm>
            <a:off x="986552" y="3724870"/>
            <a:ext cx="3852863" cy="5705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7.89% → 3.56% · Most similar to Khmer (no spaces, diacritics)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5196007" y="2390418"/>
            <a:ext cx="4238387" cy="2097762"/>
          </a:xfrm>
          <a:prstGeom prst="roundRect">
            <a:avLst>
              <a:gd name="adj" fmla="val 1379"/>
            </a:avLst>
          </a:prstGeom>
          <a:solidFill>
            <a:srgbClr val="F2EEEE"/>
          </a:solidFill>
          <a:ln/>
        </p:spPr>
      </p:sp>
      <p:sp>
        <p:nvSpPr>
          <p:cNvPr id="11" name="Shape 8"/>
          <p:cNvSpPr/>
          <p:nvPr/>
        </p:nvSpPr>
        <p:spPr>
          <a:xfrm>
            <a:off x="5388769" y="2583180"/>
            <a:ext cx="578406" cy="578406"/>
          </a:xfrm>
          <a:prstGeom prst="roundRect">
            <a:avLst>
              <a:gd name="adj" fmla="val 15807384"/>
            </a:avLst>
          </a:prstGeom>
          <a:solidFill>
            <a:srgbClr val="2150FE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547836" y="2742248"/>
            <a:ext cx="260271" cy="26027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88769" y="3325416"/>
            <a:ext cx="2890361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8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Thai — −50% CER Reduction</a:t>
            </a:r>
            <a:endParaRPr lang="en-US" sz="1850" dirty="0"/>
          </a:p>
        </p:txBody>
      </p:sp>
      <p:sp>
        <p:nvSpPr>
          <p:cNvPr id="14" name="Text 10"/>
          <p:cNvSpPr/>
          <p:nvPr/>
        </p:nvSpPr>
        <p:spPr>
          <a:xfrm>
            <a:off x="5388769" y="3724870"/>
            <a:ext cx="3852863" cy="5705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8.43% → 4.21% · Stacked characters, similar structure</a:t>
            </a:r>
            <a:endParaRPr lang="en-US" sz="1500" dirty="0"/>
          </a:p>
        </p:txBody>
      </p:sp>
      <p:sp>
        <p:nvSpPr>
          <p:cNvPr id="15" name="Shape 11"/>
          <p:cNvSpPr/>
          <p:nvPr/>
        </p:nvSpPr>
        <p:spPr>
          <a:xfrm>
            <a:off x="9598223" y="2390418"/>
            <a:ext cx="4238387" cy="2097762"/>
          </a:xfrm>
          <a:prstGeom prst="roundRect">
            <a:avLst>
              <a:gd name="adj" fmla="val 1379"/>
            </a:avLst>
          </a:prstGeom>
          <a:solidFill>
            <a:srgbClr val="F2EEEE"/>
          </a:solidFill>
          <a:ln/>
        </p:spPr>
      </p:sp>
      <p:sp>
        <p:nvSpPr>
          <p:cNvPr id="16" name="Shape 12"/>
          <p:cNvSpPr/>
          <p:nvPr/>
        </p:nvSpPr>
        <p:spPr>
          <a:xfrm>
            <a:off x="9790986" y="2583180"/>
            <a:ext cx="578406" cy="578406"/>
          </a:xfrm>
          <a:prstGeom prst="roundRect">
            <a:avLst>
              <a:gd name="adj" fmla="val 15807384"/>
            </a:avLst>
          </a:prstGeom>
          <a:solidFill>
            <a:srgbClr val="2150FE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950053" y="2742248"/>
            <a:ext cx="260271" cy="26027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9790986" y="3325416"/>
            <a:ext cx="3303746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8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Burmese — −46% CER Reduction</a:t>
            </a:r>
            <a:endParaRPr lang="en-US" sz="1850" dirty="0"/>
          </a:p>
        </p:txBody>
      </p:sp>
      <p:sp>
        <p:nvSpPr>
          <p:cNvPr id="19" name="Text 14"/>
          <p:cNvSpPr/>
          <p:nvPr/>
        </p:nvSpPr>
        <p:spPr>
          <a:xfrm>
            <a:off x="9790986" y="3724870"/>
            <a:ext cx="3852863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9.12% → 4.88% · Subscript consonants</a:t>
            </a:r>
            <a:endParaRPr lang="en-US" sz="1500" dirty="0"/>
          </a:p>
        </p:txBody>
      </p:sp>
      <p:sp>
        <p:nvSpPr>
          <p:cNvPr id="20" name="Shape 15"/>
          <p:cNvSpPr/>
          <p:nvPr/>
        </p:nvSpPr>
        <p:spPr>
          <a:xfrm>
            <a:off x="793790" y="4652010"/>
            <a:ext cx="6439495" cy="1812488"/>
          </a:xfrm>
          <a:prstGeom prst="roundRect">
            <a:avLst>
              <a:gd name="adj" fmla="val 1596"/>
            </a:avLst>
          </a:prstGeom>
          <a:solidFill>
            <a:srgbClr val="F2EEEE"/>
          </a:solidFill>
          <a:ln/>
        </p:spPr>
      </p:sp>
      <p:sp>
        <p:nvSpPr>
          <p:cNvPr id="21" name="Shape 16"/>
          <p:cNvSpPr/>
          <p:nvPr/>
        </p:nvSpPr>
        <p:spPr>
          <a:xfrm>
            <a:off x="986552" y="4844772"/>
            <a:ext cx="578406" cy="578406"/>
          </a:xfrm>
          <a:prstGeom prst="roundRect">
            <a:avLst>
              <a:gd name="adj" fmla="val 15807384"/>
            </a:avLst>
          </a:prstGeom>
          <a:solidFill>
            <a:srgbClr val="2150FE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45619" y="5003840"/>
            <a:ext cx="260271" cy="260271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86552" y="5587008"/>
            <a:ext cx="2950845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8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Hindi — −41% CER Reduction</a:t>
            </a:r>
            <a:endParaRPr lang="en-US" sz="1850" dirty="0"/>
          </a:p>
        </p:txBody>
      </p:sp>
      <p:sp>
        <p:nvSpPr>
          <p:cNvPr id="24" name="Text 18"/>
          <p:cNvSpPr/>
          <p:nvPr/>
        </p:nvSpPr>
        <p:spPr>
          <a:xfrm>
            <a:off x="986552" y="5986463"/>
            <a:ext cx="6053971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6.78% → 4.02% · Diacritics above/below base</a:t>
            </a:r>
            <a:endParaRPr lang="en-US" sz="1500" dirty="0"/>
          </a:p>
        </p:txBody>
      </p:sp>
      <p:sp>
        <p:nvSpPr>
          <p:cNvPr id="25" name="Shape 19"/>
          <p:cNvSpPr/>
          <p:nvPr/>
        </p:nvSpPr>
        <p:spPr>
          <a:xfrm>
            <a:off x="7397115" y="4652010"/>
            <a:ext cx="6439495" cy="1812488"/>
          </a:xfrm>
          <a:prstGeom prst="roundRect">
            <a:avLst>
              <a:gd name="adj" fmla="val 1596"/>
            </a:avLst>
          </a:prstGeom>
          <a:solidFill>
            <a:srgbClr val="F2EEEE"/>
          </a:solidFill>
          <a:ln/>
        </p:spPr>
      </p:sp>
      <p:sp>
        <p:nvSpPr>
          <p:cNvPr id="26" name="Shape 20"/>
          <p:cNvSpPr/>
          <p:nvPr/>
        </p:nvSpPr>
        <p:spPr>
          <a:xfrm>
            <a:off x="7589877" y="4844772"/>
            <a:ext cx="578406" cy="578406"/>
          </a:xfrm>
          <a:prstGeom prst="roundRect">
            <a:avLst>
              <a:gd name="adj" fmla="val 15807384"/>
            </a:avLst>
          </a:prstGeom>
          <a:solidFill>
            <a:srgbClr val="2150FE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748945" y="5003840"/>
            <a:ext cx="260271" cy="260271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7589877" y="5587008"/>
            <a:ext cx="3568303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8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Vietnamese — −27% CER Reduction</a:t>
            </a:r>
            <a:endParaRPr lang="en-US" sz="1850" dirty="0"/>
          </a:p>
        </p:txBody>
      </p:sp>
      <p:sp>
        <p:nvSpPr>
          <p:cNvPr id="29" name="Text 22"/>
          <p:cNvSpPr/>
          <p:nvPr/>
        </p:nvSpPr>
        <p:spPr>
          <a:xfrm>
            <a:off x="7589877" y="5986463"/>
            <a:ext cx="6053971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5.34% → 3.89% · Latin + diacritics (most different from Khmer)</a:t>
            </a:r>
            <a:endParaRPr lang="en-US" sz="1500" dirty="0"/>
          </a:p>
        </p:txBody>
      </p:sp>
      <p:sp>
        <p:nvSpPr>
          <p:cNvPr id="30" name="Text 23"/>
          <p:cNvSpPr/>
          <p:nvPr/>
        </p:nvSpPr>
        <p:spPr>
          <a:xfrm>
            <a:off x="1082993" y="6833116"/>
            <a:ext cx="12753618" cy="5705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Pattern: More similar to Khmer → greater improvement. Lao (closest relative): −55% | Vietnamese (Latin-based): −27%. This proves Khmer's challenges are a superset of other scripts — solving Khmer generalizes broadly.</a:t>
            </a:r>
            <a:endParaRPr lang="en-US" sz="1500" dirty="0"/>
          </a:p>
        </p:txBody>
      </p:sp>
      <p:sp>
        <p:nvSpPr>
          <p:cNvPr id="31" name="Shape 24"/>
          <p:cNvSpPr/>
          <p:nvPr/>
        </p:nvSpPr>
        <p:spPr>
          <a:xfrm>
            <a:off x="793790" y="6648807"/>
            <a:ext cx="22860" cy="939165"/>
          </a:xfrm>
          <a:prstGeom prst="rect">
            <a:avLst/>
          </a:prstGeom>
          <a:solidFill>
            <a:srgbClr val="2150FE"/>
          </a:solidFill>
          <a:ln/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0218" y="628531"/>
            <a:ext cx="6020038" cy="5079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000"/>
              </a:lnSpc>
              <a:buNone/>
            </a:pPr>
            <a:r>
              <a:rPr lang="en-US" sz="3200" b="1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Diagram 11 — Known Failure Cases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90218" y="1500426"/>
            <a:ext cx="13049964" cy="3081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Where the system still struggles — and why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90218" y="2013347"/>
            <a:ext cx="4228624" cy="2856905"/>
          </a:xfrm>
          <a:prstGeom prst="roundRect">
            <a:avLst>
              <a:gd name="adj" fmla="val 1067"/>
            </a:avLst>
          </a:prstGeom>
          <a:solidFill>
            <a:srgbClr val="F2EEEE"/>
          </a:solidFill>
          <a:ln/>
        </p:spPr>
      </p:sp>
      <p:sp>
        <p:nvSpPr>
          <p:cNvPr id="5" name="Shape 3"/>
          <p:cNvSpPr/>
          <p:nvPr/>
        </p:nvSpPr>
        <p:spPr>
          <a:xfrm>
            <a:off x="993338" y="2216468"/>
            <a:ext cx="609600" cy="609600"/>
          </a:xfrm>
          <a:prstGeom prst="roundRect">
            <a:avLst>
              <a:gd name="adj" fmla="val 14998500"/>
            </a:avLst>
          </a:prstGeom>
          <a:solidFill>
            <a:srgbClr val="2150FE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60978" y="2384108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93338" y="3007995"/>
            <a:ext cx="2539960" cy="317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Low Resolution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993338" y="3434596"/>
            <a:ext cx="3822382" cy="12325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Images below 40px tall: tiny diacritics become invisible. The difference between ក and ក់ (a single dot) disappears at low quality.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5200769" y="2013347"/>
            <a:ext cx="4228743" cy="2856905"/>
          </a:xfrm>
          <a:prstGeom prst="roundRect">
            <a:avLst>
              <a:gd name="adj" fmla="val 1067"/>
            </a:avLst>
          </a:prstGeom>
          <a:solidFill>
            <a:srgbClr val="F2EEEE"/>
          </a:solidFill>
          <a:ln/>
        </p:spPr>
      </p:sp>
      <p:sp>
        <p:nvSpPr>
          <p:cNvPr id="10" name="Shape 7"/>
          <p:cNvSpPr/>
          <p:nvPr/>
        </p:nvSpPr>
        <p:spPr>
          <a:xfrm>
            <a:off x="5403890" y="2216468"/>
            <a:ext cx="609600" cy="609600"/>
          </a:xfrm>
          <a:prstGeom prst="roundRect">
            <a:avLst>
              <a:gd name="adj" fmla="val 14998500"/>
            </a:avLst>
          </a:prstGeom>
          <a:solidFill>
            <a:srgbClr val="2150FE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571530" y="2384108"/>
            <a:ext cx="274320" cy="2743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03890" y="3007995"/>
            <a:ext cx="2539960" cy="317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Text Detector Errors</a:t>
            </a:r>
            <a:endParaRPr lang="en-US" sz="2000" dirty="0"/>
          </a:p>
        </p:txBody>
      </p:sp>
      <p:sp>
        <p:nvSpPr>
          <p:cNvPr id="13" name="Text 9"/>
          <p:cNvSpPr/>
          <p:nvPr/>
        </p:nvSpPr>
        <p:spPr>
          <a:xfrm>
            <a:off x="5403890" y="3434596"/>
            <a:ext cx="3822502" cy="9244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If the upstream text detector crops too tightly, Row 1 diacritics above the text get cut off. The recognizer never sees them.</a:t>
            </a:r>
            <a:endParaRPr lang="en-US" sz="1600" dirty="0"/>
          </a:p>
        </p:txBody>
      </p:sp>
      <p:sp>
        <p:nvSpPr>
          <p:cNvPr id="14" name="Shape 10"/>
          <p:cNvSpPr/>
          <p:nvPr/>
        </p:nvSpPr>
        <p:spPr>
          <a:xfrm>
            <a:off x="9611439" y="2013347"/>
            <a:ext cx="4228743" cy="2856905"/>
          </a:xfrm>
          <a:prstGeom prst="roundRect">
            <a:avLst>
              <a:gd name="adj" fmla="val 1067"/>
            </a:avLst>
          </a:prstGeom>
          <a:solidFill>
            <a:srgbClr val="F2EEEE"/>
          </a:solidFill>
          <a:ln/>
        </p:spPr>
      </p:sp>
      <p:sp>
        <p:nvSpPr>
          <p:cNvPr id="15" name="Shape 11"/>
          <p:cNvSpPr/>
          <p:nvPr/>
        </p:nvSpPr>
        <p:spPr>
          <a:xfrm>
            <a:off x="9814560" y="2216468"/>
            <a:ext cx="609600" cy="609600"/>
          </a:xfrm>
          <a:prstGeom prst="roundRect">
            <a:avLst>
              <a:gd name="adj" fmla="val 14998500"/>
            </a:avLst>
          </a:prstGeom>
          <a:solidFill>
            <a:srgbClr val="2150FE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982200" y="2384108"/>
            <a:ext cx="274320" cy="2743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814560" y="3007995"/>
            <a:ext cx="2539960" cy="317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Ambiguous Characters</a:t>
            </a:r>
            <a:endParaRPr lang="en-US" sz="2000" dirty="0"/>
          </a:p>
        </p:txBody>
      </p:sp>
      <p:sp>
        <p:nvSpPr>
          <p:cNvPr id="18" name="Text 13"/>
          <p:cNvSpPr/>
          <p:nvPr/>
        </p:nvSpPr>
        <p:spPr>
          <a:xfrm>
            <a:off x="9814560" y="3434596"/>
            <a:ext cx="3822502" cy="9244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Some pairs like ◌ិ vs ◌ី differ by just one stroke length. At low quality, even humans struggle to distinguish them.</a:t>
            </a:r>
            <a:endParaRPr lang="en-US" sz="1600" dirty="0"/>
          </a:p>
        </p:txBody>
      </p:sp>
      <p:sp>
        <p:nvSpPr>
          <p:cNvPr id="19" name="Shape 14"/>
          <p:cNvSpPr/>
          <p:nvPr/>
        </p:nvSpPr>
        <p:spPr>
          <a:xfrm>
            <a:off x="790218" y="5052179"/>
            <a:ext cx="6434018" cy="2548771"/>
          </a:xfrm>
          <a:prstGeom prst="roundRect">
            <a:avLst>
              <a:gd name="adj" fmla="val 1196"/>
            </a:avLst>
          </a:prstGeom>
          <a:solidFill>
            <a:srgbClr val="F2EEEE"/>
          </a:solidFill>
          <a:ln/>
        </p:spPr>
      </p:sp>
      <p:sp>
        <p:nvSpPr>
          <p:cNvPr id="20" name="Shape 15"/>
          <p:cNvSpPr/>
          <p:nvPr/>
        </p:nvSpPr>
        <p:spPr>
          <a:xfrm>
            <a:off x="993338" y="5255300"/>
            <a:ext cx="609600" cy="609600"/>
          </a:xfrm>
          <a:prstGeom prst="roundRect">
            <a:avLst>
              <a:gd name="adj" fmla="val 14998500"/>
            </a:avLst>
          </a:prstGeom>
          <a:solidFill>
            <a:srgbClr val="2150FE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60978" y="5422940"/>
            <a:ext cx="274320" cy="27432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93338" y="6046827"/>
            <a:ext cx="2539960" cy="317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Rare Triple Clusters</a:t>
            </a:r>
            <a:endParaRPr lang="en-US" sz="2000" dirty="0"/>
          </a:p>
        </p:txBody>
      </p:sp>
      <p:sp>
        <p:nvSpPr>
          <p:cNvPr id="23" name="Text 17"/>
          <p:cNvSpPr/>
          <p:nvPr/>
        </p:nvSpPr>
        <p:spPr>
          <a:xfrm>
            <a:off x="993338" y="6473428"/>
            <a:ext cx="6027777" cy="6162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Triple-stacked consonants (base + 2 subscripts) are rare in training data. The model sometimes drops the deepest subscript.</a:t>
            </a:r>
            <a:endParaRPr lang="en-US" sz="1600" dirty="0"/>
          </a:p>
        </p:txBody>
      </p:sp>
      <p:sp>
        <p:nvSpPr>
          <p:cNvPr id="24" name="Shape 18"/>
          <p:cNvSpPr/>
          <p:nvPr/>
        </p:nvSpPr>
        <p:spPr>
          <a:xfrm>
            <a:off x="7406164" y="5052179"/>
            <a:ext cx="6434018" cy="2548771"/>
          </a:xfrm>
          <a:prstGeom prst="roundRect">
            <a:avLst>
              <a:gd name="adj" fmla="val 1196"/>
            </a:avLst>
          </a:prstGeom>
          <a:solidFill>
            <a:srgbClr val="F2EEEE"/>
          </a:solidFill>
          <a:ln/>
        </p:spPr>
      </p:sp>
      <p:sp>
        <p:nvSpPr>
          <p:cNvPr id="25" name="Shape 19"/>
          <p:cNvSpPr/>
          <p:nvPr/>
        </p:nvSpPr>
        <p:spPr>
          <a:xfrm>
            <a:off x="7609284" y="5255300"/>
            <a:ext cx="609600" cy="609600"/>
          </a:xfrm>
          <a:prstGeom prst="roundRect">
            <a:avLst>
              <a:gd name="adj" fmla="val 14998500"/>
            </a:avLst>
          </a:prstGeom>
          <a:solidFill>
            <a:srgbClr val="2150FE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776924" y="5422940"/>
            <a:ext cx="274320" cy="27432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7609284" y="6046827"/>
            <a:ext cx="2736056" cy="317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Historical Script Variation</a:t>
            </a:r>
            <a:endParaRPr lang="en-US" sz="2000" dirty="0"/>
          </a:p>
        </p:txBody>
      </p:sp>
      <p:sp>
        <p:nvSpPr>
          <p:cNvPr id="28" name="Text 21"/>
          <p:cNvSpPr/>
          <p:nvPr/>
        </p:nvSpPr>
        <p:spPr>
          <a:xfrm>
            <a:off x="7609284" y="6473428"/>
            <a:ext cx="6027777" cy="9244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Ancient palm-leaf manuscripts use character forms very different from modern fonts. Without fine-tuning, error rates jump significantly.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73443"/>
            <a:ext cx="5507712" cy="4607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2900" b="1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Summary — The Complete Journey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793790" y="1525786"/>
            <a:ext cx="13042821" cy="194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From problem to state-of-the-art Khmer OCR solution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1014889" y="2196584"/>
            <a:ext cx="6252329" cy="147399"/>
          </a:xfrm>
          <a:prstGeom prst="roundRect">
            <a:avLst>
              <a:gd name="adj" fmla="val 15004"/>
            </a:avLst>
          </a:prstGeom>
          <a:solidFill>
            <a:srgbClr val="F2EEEE"/>
          </a:solidFill>
          <a:ln/>
        </p:spPr>
      </p:sp>
      <p:sp>
        <p:nvSpPr>
          <p:cNvPr id="5" name="Shape 3"/>
          <p:cNvSpPr/>
          <p:nvPr/>
        </p:nvSpPr>
        <p:spPr>
          <a:xfrm>
            <a:off x="793790" y="2049185"/>
            <a:ext cx="442198" cy="442198"/>
          </a:xfrm>
          <a:prstGeom prst="roundRect">
            <a:avLst>
              <a:gd name="adj" fmla="val 103393"/>
            </a:avLst>
          </a:prstGeom>
          <a:solidFill>
            <a:srgbClr val="F2EEEE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04280" y="2159794"/>
            <a:ext cx="221099" cy="22109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41189" y="2587109"/>
            <a:ext cx="1842968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The Problem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941189" y="2874883"/>
            <a:ext cx="6178748" cy="389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Khmer OCR fails at 27–90% CER. Stacked characters, 5 vertical rows, tiny diacritics — no existing tool could handle it.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7584162" y="1975485"/>
            <a:ext cx="6252329" cy="147399"/>
          </a:xfrm>
          <a:prstGeom prst="roundRect">
            <a:avLst>
              <a:gd name="adj" fmla="val 15004"/>
            </a:avLst>
          </a:prstGeom>
          <a:solidFill>
            <a:srgbClr val="F2EEEE"/>
          </a:solidFill>
          <a:ln/>
        </p:spPr>
      </p:sp>
      <p:sp>
        <p:nvSpPr>
          <p:cNvPr id="10" name="Shape 7"/>
          <p:cNvSpPr/>
          <p:nvPr/>
        </p:nvSpPr>
        <p:spPr>
          <a:xfrm>
            <a:off x="7363063" y="1828086"/>
            <a:ext cx="442198" cy="442198"/>
          </a:xfrm>
          <a:prstGeom prst="roundRect">
            <a:avLst>
              <a:gd name="adj" fmla="val 103393"/>
            </a:avLst>
          </a:prstGeom>
          <a:solidFill>
            <a:srgbClr val="F2EEEE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473553" y="1938695"/>
            <a:ext cx="221099" cy="22109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510462" y="2366010"/>
            <a:ext cx="1842968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2.8M Training Images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7510462" y="2653784"/>
            <a:ext cx="6178748" cy="194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1.5M document + 1.3M scene text images. 48 Khmer fonts with heavy augmentation.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1014889" y="3875603"/>
            <a:ext cx="6252329" cy="147399"/>
          </a:xfrm>
          <a:prstGeom prst="roundRect">
            <a:avLst>
              <a:gd name="adj" fmla="val 15004"/>
            </a:avLst>
          </a:prstGeom>
          <a:solidFill>
            <a:srgbClr val="F2EEEE"/>
          </a:solidFill>
          <a:ln/>
        </p:spPr>
      </p:sp>
      <p:sp>
        <p:nvSpPr>
          <p:cNvPr id="15" name="Shape 11"/>
          <p:cNvSpPr/>
          <p:nvPr/>
        </p:nvSpPr>
        <p:spPr>
          <a:xfrm>
            <a:off x="793790" y="3728204"/>
            <a:ext cx="442198" cy="442198"/>
          </a:xfrm>
          <a:prstGeom prst="roundRect">
            <a:avLst>
              <a:gd name="adj" fmla="val 103393"/>
            </a:avLst>
          </a:prstGeom>
          <a:solidFill>
            <a:srgbClr val="F2EEEE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04280" y="3838813"/>
            <a:ext cx="221099" cy="221099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41189" y="4266128"/>
            <a:ext cx="1842968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2D Feature Maps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941189" y="4553902"/>
            <a:ext cx="6178748" cy="194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Preserve vertical diacritic positions. Column-wise adaptive patching — the core innovation.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7584162" y="3654504"/>
            <a:ext cx="6252329" cy="147399"/>
          </a:xfrm>
          <a:prstGeom prst="roundRect">
            <a:avLst>
              <a:gd name="adj" fmla="val 15004"/>
            </a:avLst>
          </a:prstGeom>
          <a:solidFill>
            <a:srgbClr val="F2EEEE"/>
          </a:solidFill>
          <a:ln/>
        </p:spPr>
      </p:sp>
      <p:sp>
        <p:nvSpPr>
          <p:cNvPr id="20" name="Shape 15"/>
          <p:cNvSpPr/>
          <p:nvPr/>
        </p:nvSpPr>
        <p:spPr>
          <a:xfrm>
            <a:off x="7363063" y="3507105"/>
            <a:ext cx="442198" cy="442198"/>
          </a:xfrm>
          <a:prstGeom prst="roundRect">
            <a:avLst>
              <a:gd name="adj" fmla="val 103393"/>
            </a:avLst>
          </a:prstGeom>
          <a:solidFill>
            <a:srgbClr val="F2EEEE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473553" y="3617714"/>
            <a:ext cx="221099" cy="221099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510462" y="4045029"/>
            <a:ext cx="1842968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Image Chunking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7510462" y="4332803"/>
            <a:ext cx="6178748" cy="194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Stable CER on long lines. 5× faster processing via overlapping chunk merging.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1014889" y="5360075"/>
            <a:ext cx="6252329" cy="147399"/>
          </a:xfrm>
          <a:prstGeom prst="roundRect">
            <a:avLst>
              <a:gd name="adj" fmla="val 15004"/>
            </a:avLst>
          </a:prstGeom>
          <a:solidFill>
            <a:srgbClr val="F2EEEE"/>
          </a:solidFill>
          <a:ln/>
        </p:spPr>
      </p:sp>
      <p:sp>
        <p:nvSpPr>
          <p:cNvPr id="25" name="Shape 19"/>
          <p:cNvSpPr/>
          <p:nvPr/>
        </p:nvSpPr>
        <p:spPr>
          <a:xfrm>
            <a:off x="793790" y="5212675"/>
            <a:ext cx="442198" cy="442198"/>
          </a:xfrm>
          <a:prstGeom prst="roundRect">
            <a:avLst>
              <a:gd name="adj" fmla="val 103393"/>
            </a:avLst>
          </a:prstGeom>
          <a:solidFill>
            <a:srgbClr val="F2EEEE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04280" y="5323284"/>
            <a:ext cx="221099" cy="221099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941189" y="5750600"/>
            <a:ext cx="1842968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Results</a:t>
            </a:r>
            <a:endParaRPr lang="en-US" sz="1450" dirty="0"/>
          </a:p>
        </p:txBody>
      </p:sp>
      <p:sp>
        <p:nvSpPr>
          <p:cNvPr id="28" name="Text 21"/>
          <p:cNvSpPr/>
          <p:nvPr/>
        </p:nvSpPr>
        <p:spPr>
          <a:xfrm>
            <a:off x="941189" y="6038374"/>
            <a:ext cx="6178748" cy="194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3.00% CER on ID cards — 9× better than Tesseract. 2.46% CER on ancient manuscripts.</a:t>
            </a:r>
            <a:endParaRPr lang="en-US" sz="1150" dirty="0"/>
          </a:p>
        </p:txBody>
      </p:sp>
      <p:sp>
        <p:nvSpPr>
          <p:cNvPr id="29" name="Shape 22"/>
          <p:cNvSpPr/>
          <p:nvPr/>
        </p:nvSpPr>
        <p:spPr>
          <a:xfrm>
            <a:off x="7584162" y="5138976"/>
            <a:ext cx="6252329" cy="147399"/>
          </a:xfrm>
          <a:prstGeom prst="roundRect">
            <a:avLst>
              <a:gd name="adj" fmla="val 15004"/>
            </a:avLst>
          </a:prstGeom>
          <a:solidFill>
            <a:srgbClr val="F2EEEE"/>
          </a:solidFill>
          <a:ln/>
        </p:spPr>
      </p:sp>
      <p:sp>
        <p:nvSpPr>
          <p:cNvPr id="30" name="Shape 23"/>
          <p:cNvSpPr/>
          <p:nvPr/>
        </p:nvSpPr>
        <p:spPr>
          <a:xfrm>
            <a:off x="7363063" y="4991576"/>
            <a:ext cx="442198" cy="442198"/>
          </a:xfrm>
          <a:prstGeom prst="roundRect">
            <a:avLst>
              <a:gd name="adj" fmla="val 103393"/>
            </a:avLst>
          </a:prstGeom>
          <a:solidFill>
            <a:srgbClr val="F2EEEE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473553" y="5102185"/>
            <a:ext cx="221099" cy="221099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7510462" y="5529501"/>
            <a:ext cx="1914049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Cross-Language Transfer</a:t>
            </a:r>
            <a:endParaRPr lang="en-US" sz="1450" dirty="0"/>
          </a:p>
        </p:txBody>
      </p:sp>
      <p:sp>
        <p:nvSpPr>
          <p:cNvPr id="33" name="Text 25"/>
          <p:cNvSpPr/>
          <p:nvPr/>
        </p:nvSpPr>
        <p:spPr>
          <a:xfrm>
            <a:off x="7510462" y="5817275"/>
            <a:ext cx="6178748" cy="194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5 languages: Lao −55%, Thai −50%, Burmese −46%, Hindi −41%, Vietnamese −27%.</a:t>
            </a:r>
            <a:endParaRPr lang="en-US" sz="1150" dirty="0"/>
          </a:p>
        </p:txBody>
      </p:sp>
      <p:sp>
        <p:nvSpPr>
          <p:cNvPr id="34" name="Text 26"/>
          <p:cNvSpPr/>
          <p:nvPr/>
        </p:nvSpPr>
        <p:spPr>
          <a:xfrm>
            <a:off x="1014889" y="6595824"/>
            <a:ext cx="12821722" cy="389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By solving Khmer OCR — one of the hardest non-Latin scripts — the researchers created a generalizable baseline that transfers to Thai, Lao, Burmese, Vietnamese, and Hindi with minimal additional data. The two key innovations (2D feature maps + image chunking) are applicable to any script with vertical structure.</a:t>
            </a:r>
            <a:endParaRPr lang="en-US" sz="1150" dirty="0"/>
          </a:p>
        </p:txBody>
      </p:sp>
      <p:sp>
        <p:nvSpPr>
          <p:cNvPr id="35" name="Shape 27"/>
          <p:cNvSpPr/>
          <p:nvPr/>
        </p:nvSpPr>
        <p:spPr>
          <a:xfrm>
            <a:off x="793790" y="6488073"/>
            <a:ext cx="15240" cy="604599"/>
          </a:xfrm>
          <a:prstGeom prst="rect">
            <a:avLst/>
          </a:prstGeom>
          <a:solidFill>
            <a:srgbClr val="2150FE"/>
          </a:solidFill>
          <a:ln/>
        </p:spPr>
      </p:sp>
      <p:sp>
        <p:nvSpPr>
          <p:cNvPr id="36" name="Text 28"/>
          <p:cNvSpPr/>
          <p:nvPr/>
        </p:nvSpPr>
        <p:spPr>
          <a:xfrm>
            <a:off x="793790" y="7200424"/>
            <a:ext cx="13042821" cy="1557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ResNet-45 backbone · 64px image height · 12-layer Transformer encoder · ~120-token vocabulary · Column-wise adaptive 2D patching · Overlapping chunk merging by confidence score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2026-03-03T01:44:11Z</dcterms:created>
  <dcterms:modified xsi:type="dcterms:W3CDTF">2026-03-03T01:44:11Z</dcterms:modified>
</cp:coreProperties>
</file>